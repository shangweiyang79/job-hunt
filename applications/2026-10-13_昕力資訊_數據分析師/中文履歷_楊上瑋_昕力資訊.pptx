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7556500" cy="10693400"/>
  <p:notesSz cx="6858000" cy="9144000"/>
  <p:embeddedFontLst>
    <p:embeddedFont>
      <p:font typeface="Lato" panose="020F0502020204030203" pitchFamily="34" charset="0"/>
      <p:regular r:id="rId4"/>
    </p:embeddedFont>
    <p:embeddedFont>
      <p:font typeface="微軟正黑體" panose="020B0604030504040204" pitchFamily="34" charset="-120"/>
      <p:regular r:id="rId5"/>
      <p:bold r:id="rId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1" roundtripDataSignature="AMtx7mhZQxAXodj4zauHU0DPgS739uwOu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22" d="100"/>
          <a:sy n="122" d="100"/>
        </p:scale>
        <p:origin x="854" y="-295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font" Target="fonts/font1.fntdata"/><Relationship Id="rId5" Type="http://schemas.openxmlformats.org/officeDocument/2006/relationships/font" Target="fonts/font2.fntdata"/><Relationship Id="rId6" Type="http://schemas.openxmlformats.org/officeDocument/2006/relationships/font" Target="fonts/font3.fntdata"/><Relationship Id="rId11" Type="http://customschemas.google.com/relationships/presentationmetadata" Target="metadata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17738" y="685800"/>
            <a:ext cx="24225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8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8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8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1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4" name="Google Shape;64;p11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Relationship Id="rId10" Type="http://schemas.openxmlformats.org/officeDocument/2006/relationships/image" Target="../media/image8.png"/><Relationship Id="rId11" Type="http://schemas.openxmlformats.org/officeDocument/2006/relationships/image" Target="../media/image9.png"/><Relationship Id="rId1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"/>
          <p:cNvGrpSpPr/>
          <p:nvPr/>
        </p:nvGrpSpPr>
        <p:grpSpPr>
          <a:xfrm>
            <a:off x="-34211" y="1299506"/>
            <a:ext cx="2334679" cy="9383129"/>
            <a:chOff x="0" y="-47625"/>
            <a:chExt cx="836696" cy="3431196"/>
          </a:xfrm>
        </p:grpSpPr>
        <p:sp>
          <p:nvSpPr>
            <p:cNvPr id="85" name="Google Shape;85;p1"/>
            <p:cNvSpPr/>
            <p:nvPr/>
          </p:nvSpPr>
          <p:spPr>
            <a:xfrm>
              <a:off x="0" y="0"/>
              <a:ext cx="836696" cy="3383571"/>
            </a:xfrm>
            <a:custGeom>
              <a:avLst/>
              <a:gdLst/>
              <a:ahLst/>
              <a:cxnLst/>
              <a:rect l="l" t="t" r="r" b="b"/>
              <a:pathLst>
                <a:path w="836696" h="3383571" extrusionOk="0">
                  <a:moveTo>
                    <a:pt x="0" y="0"/>
                  </a:moveTo>
                  <a:lnTo>
                    <a:pt x="836696" y="0"/>
                  </a:lnTo>
                  <a:lnTo>
                    <a:pt x="836696" y="3383571"/>
                  </a:lnTo>
                  <a:lnTo>
                    <a:pt x="0" y="3383571"/>
                  </a:lnTo>
                  <a:close/>
                </a:path>
              </a:pathLst>
            </a:custGeom>
            <a:solidFill>
              <a:srgbClr val="E4E4E4"/>
            </a:solidFill>
            <a:ln>
              <a:noFill/>
            </a:ln>
          </p:spPr>
          <p:txBody>
            <a:bodyPr/>
            <a:lstStyle/>
            <a:p>
              <a:endParaRPr lang="zh-TW" altLang="en-US">
                <a:solidFill>
                  <a:schemeClr val="tx1"/>
                </a:solidFill>
              </a:endParaRPr>
            </a:p>
          </p:txBody>
        </p:sp>
        <p:sp>
          <p:nvSpPr>
            <p:cNvPr id="86" name="Google Shape;86;p1"/>
            <p:cNvSpPr txBox="1"/>
            <p:nvPr/>
          </p:nvSpPr>
          <p:spPr>
            <a:xfrm>
              <a:off x="0" y="-47625"/>
              <a:ext cx="836696" cy="34311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08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7" name="Google Shape;87;p1"/>
          <p:cNvGrpSpPr/>
          <p:nvPr/>
        </p:nvGrpSpPr>
        <p:grpSpPr>
          <a:xfrm>
            <a:off x="0" y="-132891"/>
            <a:ext cx="7560000" cy="1802828"/>
            <a:chOff x="0" y="-47625"/>
            <a:chExt cx="2709333" cy="688611"/>
          </a:xfrm>
        </p:grpSpPr>
        <p:sp>
          <p:nvSpPr>
            <p:cNvPr id="88" name="Google Shape;88;p1"/>
            <p:cNvSpPr/>
            <p:nvPr/>
          </p:nvSpPr>
          <p:spPr>
            <a:xfrm>
              <a:off x="0" y="0"/>
              <a:ext cx="2709333" cy="640986"/>
            </a:xfrm>
            <a:custGeom>
              <a:avLst/>
              <a:gdLst/>
              <a:ahLst/>
              <a:cxnLst/>
              <a:rect l="l" t="t" r="r" b="b"/>
              <a:pathLst>
                <a:path w="2709333" h="640986" extrusionOk="0">
                  <a:moveTo>
                    <a:pt x="0" y="0"/>
                  </a:moveTo>
                  <a:lnTo>
                    <a:pt x="2709333" y="0"/>
                  </a:lnTo>
                  <a:lnTo>
                    <a:pt x="2709333" y="640986"/>
                  </a:lnTo>
                  <a:lnTo>
                    <a:pt x="0" y="640986"/>
                  </a:lnTo>
                  <a:close/>
                </a:path>
              </a:pathLst>
            </a:custGeom>
            <a:solidFill>
              <a:srgbClr val="323B4C"/>
            </a:solidFill>
            <a:ln>
              <a:noFill/>
            </a:ln>
          </p:spPr>
          <p:txBody>
            <a:bodyPr/>
            <a:lstStyle/>
            <a:p>
              <a:endParaRPr lang="zh-TW" altLang="en-US">
                <a:solidFill>
                  <a:schemeClr val="tx1"/>
                </a:solidFill>
              </a:endParaRPr>
            </a:p>
          </p:txBody>
        </p:sp>
        <p:sp>
          <p:nvSpPr>
            <p:cNvPr id="89" name="Google Shape;89;p1"/>
            <p:cNvSpPr txBox="1"/>
            <p:nvPr/>
          </p:nvSpPr>
          <p:spPr>
            <a:xfrm>
              <a:off x="0" y="-47625"/>
              <a:ext cx="2709333" cy="6886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08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0" name="Google Shape;90;p1"/>
          <p:cNvGrpSpPr/>
          <p:nvPr/>
        </p:nvGrpSpPr>
        <p:grpSpPr>
          <a:xfrm>
            <a:off x="275544" y="756000"/>
            <a:ext cx="1789228" cy="1789228"/>
            <a:chOff x="0" y="0"/>
            <a:chExt cx="2385638" cy="2385638"/>
          </a:xfrm>
        </p:grpSpPr>
        <p:grpSp>
          <p:nvGrpSpPr>
            <p:cNvPr id="91" name="Google Shape;91;p1"/>
            <p:cNvGrpSpPr/>
            <p:nvPr/>
          </p:nvGrpSpPr>
          <p:grpSpPr>
            <a:xfrm>
              <a:off x="0" y="0"/>
              <a:ext cx="2385638" cy="2385638"/>
              <a:chOff x="0" y="0"/>
              <a:chExt cx="812800" cy="812800"/>
            </a:xfrm>
          </p:grpSpPr>
          <p:sp>
            <p:nvSpPr>
              <p:cNvPr id="92" name="Google Shape;92;p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DFDF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tx1"/>
                  </a:solidFill>
                </a:endParaRPr>
              </a:p>
            </p:txBody>
          </p:sp>
          <p:sp>
            <p:nvSpPr>
              <p:cNvPr id="93" name="Google Shape;93;p1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8833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tx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94" name="Google Shape;94;p1"/>
            <p:cNvSpPr/>
            <p:nvPr/>
          </p:nvSpPr>
          <p:spPr>
            <a:xfrm>
              <a:off x="63440" y="63440"/>
              <a:ext cx="2258759" cy="2258759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t="-4416" b="-29078"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/>
                </a:solidFill>
              </a:endParaRPr>
            </a:p>
          </p:txBody>
        </p:sp>
      </p:grpSp>
      <p:grpSp>
        <p:nvGrpSpPr>
          <p:cNvPr id="95" name="Google Shape;95;p1"/>
          <p:cNvGrpSpPr/>
          <p:nvPr/>
        </p:nvGrpSpPr>
        <p:grpSpPr>
          <a:xfrm>
            <a:off x="253291" y="4854333"/>
            <a:ext cx="1889328" cy="302679"/>
            <a:chOff x="-100691" y="-28575"/>
            <a:chExt cx="2519104" cy="403572"/>
          </a:xfrm>
        </p:grpSpPr>
        <p:sp>
          <p:nvSpPr>
            <p:cNvPr id="96" name="Google Shape;96;p1"/>
            <p:cNvSpPr txBox="1"/>
            <p:nvPr/>
          </p:nvSpPr>
          <p:spPr>
            <a:xfrm>
              <a:off x="-100691" y="-28575"/>
              <a:ext cx="2511731" cy="40216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3992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altLang="en-US" sz="1400" b="1" i="0" u="none" strike="noStrike" cap="none" dirty="0">
                  <a:solidFill>
                    <a:schemeClr val="tx1"/>
                  </a:solidFill>
                  <a:latin typeface="Arial"/>
                  <a:ea typeface="Arial"/>
                  <a:cs typeface="Arial"/>
                  <a:sym typeface="Arial"/>
                </a:rPr>
                <a:t>技能</a:t>
              </a:r>
              <a:endParaRPr sz="1400" b="1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1"/>
            <p:cNvSpPr/>
            <p:nvPr/>
          </p:nvSpPr>
          <p:spPr>
            <a:xfrm>
              <a:off x="7373" y="360643"/>
              <a:ext cx="2411040" cy="14354"/>
            </a:xfrm>
            <a:custGeom>
              <a:avLst/>
              <a:gdLst/>
              <a:ahLst/>
              <a:cxnLst/>
              <a:rect l="l" t="t" r="r" b="b"/>
              <a:pathLst>
                <a:path w="11733051" h="69850" extrusionOk="0">
                  <a:moveTo>
                    <a:pt x="11442221" y="0"/>
                  </a:moveTo>
                  <a:lnTo>
                    <a:pt x="0" y="0"/>
                  </a:lnTo>
                  <a:lnTo>
                    <a:pt x="0" y="69850"/>
                  </a:lnTo>
                  <a:lnTo>
                    <a:pt x="11733051" y="69850"/>
                  </a:lnTo>
                  <a:lnTo>
                    <a:pt x="11733051" y="0"/>
                  </a:lnTo>
                  <a:close/>
                </a:path>
              </a:pathLst>
            </a:custGeom>
            <a:solidFill>
              <a:srgbClr val="323B4C"/>
            </a:solidFill>
            <a:ln>
              <a:noFill/>
            </a:ln>
          </p:spPr>
          <p:txBody>
            <a:bodyPr/>
            <a:lstStyle/>
            <a:p>
              <a:endParaRPr lang="zh-TW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98" name="Google Shape;98;p1"/>
          <p:cNvGrpSpPr/>
          <p:nvPr/>
        </p:nvGrpSpPr>
        <p:grpSpPr>
          <a:xfrm>
            <a:off x="259235" y="2942541"/>
            <a:ext cx="1816209" cy="301621"/>
            <a:chOff x="0" y="-28575"/>
            <a:chExt cx="2421613" cy="402161"/>
          </a:xfrm>
        </p:grpSpPr>
        <p:sp>
          <p:nvSpPr>
            <p:cNvPr id="99" name="Google Shape;99;p1"/>
            <p:cNvSpPr/>
            <p:nvPr/>
          </p:nvSpPr>
          <p:spPr>
            <a:xfrm>
              <a:off x="10573" y="346642"/>
              <a:ext cx="2411040" cy="14354"/>
            </a:xfrm>
            <a:custGeom>
              <a:avLst/>
              <a:gdLst/>
              <a:ahLst/>
              <a:cxnLst/>
              <a:rect l="l" t="t" r="r" b="b"/>
              <a:pathLst>
                <a:path w="11733051" h="69850" extrusionOk="0">
                  <a:moveTo>
                    <a:pt x="11442221" y="0"/>
                  </a:moveTo>
                  <a:lnTo>
                    <a:pt x="0" y="0"/>
                  </a:lnTo>
                  <a:lnTo>
                    <a:pt x="0" y="69850"/>
                  </a:lnTo>
                  <a:lnTo>
                    <a:pt x="11733051" y="69850"/>
                  </a:lnTo>
                  <a:lnTo>
                    <a:pt x="11733051" y="0"/>
                  </a:lnTo>
                  <a:close/>
                </a:path>
              </a:pathLst>
            </a:custGeom>
            <a:solidFill>
              <a:srgbClr val="323B4C"/>
            </a:solidFill>
            <a:ln>
              <a:noFill/>
            </a:ln>
          </p:spPr>
          <p:txBody>
            <a:bodyPr/>
            <a:lstStyle/>
            <a:p>
              <a:endParaRPr lang="zh-TW" altLang="en-US">
                <a:solidFill>
                  <a:schemeClr val="tx1"/>
                </a:solidFill>
              </a:endParaRPr>
            </a:p>
          </p:txBody>
        </p:sp>
        <p:sp>
          <p:nvSpPr>
            <p:cNvPr id="100" name="Google Shape;100;p1"/>
            <p:cNvSpPr txBox="1"/>
            <p:nvPr/>
          </p:nvSpPr>
          <p:spPr>
            <a:xfrm>
              <a:off x="0" y="-28575"/>
              <a:ext cx="1930498" cy="4021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3992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 i="0" u="none" strike="noStrike" cap="none" dirty="0" err="1">
                  <a:solidFill>
                    <a:schemeClr val="tx1"/>
                  </a:solidFill>
                  <a:latin typeface="Arial"/>
                  <a:ea typeface="Arial"/>
                  <a:cs typeface="Arial"/>
                  <a:sym typeface="Arial"/>
                </a:rPr>
                <a:t>聯絡資訊</a:t>
              </a:r>
              <a:endParaRPr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04" name="Google Shape;104;p1"/>
          <p:cNvGrpSpPr/>
          <p:nvPr/>
        </p:nvGrpSpPr>
        <p:grpSpPr>
          <a:xfrm>
            <a:off x="226223" y="7151164"/>
            <a:ext cx="1813810" cy="302680"/>
            <a:chOff x="0" y="-28575"/>
            <a:chExt cx="2418413" cy="403572"/>
          </a:xfrm>
        </p:grpSpPr>
        <p:sp>
          <p:nvSpPr>
            <p:cNvPr id="105" name="Google Shape;105;p1"/>
            <p:cNvSpPr/>
            <p:nvPr/>
          </p:nvSpPr>
          <p:spPr>
            <a:xfrm>
              <a:off x="7373" y="360643"/>
              <a:ext cx="2411040" cy="14354"/>
            </a:xfrm>
            <a:custGeom>
              <a:avLst/>
              <a:gdLst/>
              <a:ahLst/>
              <a:cxnLst/>
              <a:rect l="l" t="t" r="r" b="b"/>
              <a:pathLst>
                <a:path w="11733051" h="69850" extrusionOk="0">
                  <a:moveTo>
                    <a:pt x="11442221" y="0"/>
                  </a:moveTo>
                  <a:lnTo>
                    <a:pt x="0" y="0"/>
                  </a:lnTo>
                  <a:lnTo>
                    <a:pt x="0" y="69850"/>
                  </a:lnTo>
                  <a:lnTo>
                    <a:pt x="11733051" y="69850"/>
                  </a:lnTo>
                  <a:lnTo>
                    <a:pt x="11733051" y="0"/>
                  </a:lnTo>
                  <a:close/>
                </a:path>
              </a:pathLst>
            </a:custGeom>
            <a:solidFill>
              <a:srgbClr val="323B4C"/>
            </a:solidFill>
            <a:ln>
              <a:noFill/>
            </a:ln>
          </p:spPr>
          <p:txBody>
            <a:bodyPr/>
            <a:lstStyle/>
            <a:p>
              <a:endParaRPr lang="zh-TW" altLang="en-US">
                <a:solidFill>
                  <a:schemeClr val="tx1"/>
                </a:solidFill>
              </a:endParaRPr>
            </a:p>
          </p:txBody>
        </p:sp>
        <p:sp>
          <p:nvSpPr>
            <p:cNvPr id="106" name="Google Shape;106;p1"/>
            <p:cNvSpPr txBox="1"/>
            <p:nvPr/>
          </p:nvSpPr>
          <p:spPr>
            <a:xfrm>
              <a:off x="0" y="-28575"/>
              <a:ext cx="2411040" cy="4021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3992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 i="0" u="none" strike="noStrike" cap="none" dirty="0" err="1">
                  <a:solidFill>
                    <a:schemeClr val="tx1"/>
                  </a:solidFill>
                  <a:latin typeface="Arial"/>
                  <a:ea typeface="Arial"/>
                  <a:cs typeface="Arial"/>
                  <a:sym typeface="Arial"/>
                </a:rPr>
                <a:t>語言</a:t>
              </a:r>
              <a:endParaRPr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07" name="Google Shape;107;p1"/>
          <p:cNvGrpSpPr/>
          <p:nvPr/>
        </p:nvGrpSpPr>
        <p:grpSpPr>
          <a:xfrm>
            <a:off x="265820" y="3310509"/>
            <a:ext cx="1807225" cy="215444"/>
            <a:chOff x="0" y="-28575"/>
            <a:chExt cx="2409633" cy="287259"/>
          </a:xfrm>
        </p:grpSpPr>
        <p:sp>
          <p:nvSpPr>
            <p:cNvPr id="108" name="Google Shape;108;p1"/>
            <p:cNvSpPr/>
            <p:nvPr/>
          </p:nvSpPr>
          <p:spPr>
            <a:xfrm>
              <a:off x="0" y="13408"/>
              <a:ext cx="166947" cy="181325"/>
            </a:xfrm>
            <a:custGeom>
              <a:avLst/>
              <a:gdLst/>
              <a:ahLst/>
              <a:cxnLst/>
              <a:rect l="l" t="t" r="r" b="b"/>
              <a:pathLst>
                <a:path w="166947" h="181325" extrusionOk="0">
                  <a:moveTo>
                    <a:pt x="0" y="0"/>
                  </a:moveTo>
                  <a:lnTo>
                    <a:pt x="166947" y="0"/>
                  </a:lnTo>
                  <a:lnTo>
                    <a:pt x="166947" y="181325"/>
                  </a:lnTo>
                  <a:lnTo>
                    <a:pt x="0" y="1813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l="-22951" b="-13202"/>
              </a:stretch>
            </a:blipFill>
            <a:ln>
              <a:noFill/>
            </a:ln>
          </p:spPr>
          <p:txBody>
            <a:bodyPr/>
            <a:lstStyle/>
            <a:p>
              <a:endParaRPr lang="zh-TW" altLang="en-US">
                <a:solidFill>
                  <a:schemeClr val="tx1"/>
                </a:solidFill>
              </a:endParaRPr>
            </a:p>
          </p:txBody>
        </p:sp>
        <p:sp>
          <p:nvSpPr>
            <p:cNvPr id="109" name="Google Shape;109;p1"/>
            <p:cNvSpPr txBox="1"/>
            <p:nvPr/>
          </p:nvSpPr>
          <p:spPr>
            <a:xfrm>
              <a:off x="306395" y="-28575"/>
              <a:ext cx="2103238" cy="28725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just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0" i="0" u="none" strike="noStrike" cap="none">
                  <a:solidFill>
                    <a:schemeClr val="tx1"/>
                  </a:solidFill>
                  <a:latin typeface="Lato"/>
                  <a:ea typeface="Lato"/>
                  <a:cs typeface="Lato"/>
                  <a:sym typeface="Lato"/>
                </a:rPr>
                <a:t>+886-988285769</a:t>
              </a:r>
              <a:endParaRPr>
                <a:solidFill>
                  <a:schemeClr val="tx1"/>
                </a:solidFill>
              </a:endParaRPr>
            </a:p>
          </p:txBody>
        </p:sp>
      </p:grpSp>
      <p:grpSp>
        <p:nvGrpSpPr>
          <p:cNvPr id="110" name="Google Shape;110;p1"/>
          <p:cNvGrpSpPr/>
          <p:nvPr/>
        </p:nvGrpSpPr>
        <p:grpSpPr>
          <a:xfrm>
            <a:off x="265820" y="3643359"/>
            <a:ext cx="2027707" cy="215252"/>
            <a:chOff x="0" y="-19050"/>
            <a:chExt cx="2703609" cy="287001"/>
          </a:xfrm>
        </p:grpSpPr>
        <p:sp>
          <p:nvSpPr>
            <p:cNvPr id="111" name="Google Shape;111;p1"/>
            <p:cNvSpPr/>
            <p:nvPr/>
          </p:nvSpPr>
          <p:spPr>
            <a:xfrm>
              <a:off x="0" y="39835"/>
              <a:ext cx="193576" cy="138821"/>
            </a:xfrm>
            <a:custGeom>
              <a:avLst/>
              <a:gdLst/>
              <a:ahLst/>
              <a:cxnLst/>
              <a:rect l="l" t="t" r="r" b="b"/>
              <a:pathLst>
                <a:path w="193576" h="138821" extrusionOk="0">
                  <a:moveTo>
                    <a:pt x="0" y="0"/>
                  </a:moveTo>
                  <a:lnTo>
                    <a:pt x="193576" y="0"/>
                  </a:lnTo>
                  <a:lnTo>
                    <a:pt x="193576" y="138821"/>
                  </a:lnTo>
                  <a:lnTo>
                    <a:pt x="0" y="13882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zh-TW" altLang="en-US">
                <a:solidFill>
                  <a:schemeClr val="tx1"/>
                </a:solidFill>
              </a:endParaRPr>
            </a:p>
          </p:txBody>
        </p:sp>
        <p:sp>
          <p:nvSpPr>
            <p:cNvPr id="112" name="Google Shape;112;p1"/>
            <p:cNvSpPr txBox="1"/>
            <p:nvPr/>
          </p:nvSpPr>
          <p:spPr>
            <a:xfrm>
              <a:off x="343775" y="-19050"/>
              <a:ext cx="2359834" cy="2870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004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99" b="0" i="0" u="none" strike="noStrike" cap="none">
                  <a:solidFill>
                    <a:schemeClr val="tx1"/>
                  </a:solidFill>
                  <a:latin typeface="Lato"/>
                  <a:ea typeface="Lato"/>
                  <a:cs typeface="Lato"/>
                  <a:sym typeface="Lato"/>
                </a:rPr>
                <a:t>shangweiyang79@gmail.com</a:t>
              </a:r>
              <a:endParaRPr>
                <a:solidFill>
                  <a:schemeClr val="tx1"/>
                </a:solidFill>
              </a:endParaRPr>
            </a:p>
          </p:txBody>
        </p:sp>
      </p:grpSp>
      <p:grpSp>
        <p:nvGrpSpPr>
          <p:cNvPr id="113" name="Google Shape;113;p1"/>
          <p:cNvGrpSpPr/>
          <p:nvPr/>
        </p:nvGrpSpPr>
        <p:grpSpPr>
          <a:xfrm>
            <a:off x="275543" y="4019526"/>
            <a:ext cx="1973211" cy="347531"/>
            <a:chOff x="0" y="0"/>
            <a:chExt cx="2396667" cy="463374"/>
          </a:xfrm>
        </p:grpSpPr>
        <p:sp>
          <p:nvSpPr>
            <p:cNvPr id="114" name="Google Shape;114;p1"/>
            <p:cNvSpPr/>
            <p:nvPr/>
          </p:nvSpPr>
          <p:spPr>
            <a:xfrm>
              <a:off x="0" y="0"/>
              <a:ext cx="141016" cy="216358"/>
            </a:xfrm>
            <a:custGeom>
              <a:avLst/>
              <a:gdLst/>
              <a:ahLst/>
              <a:cxnLst/>
              <a:rect l="l" t="t" r="r" b="b"/>
              <a:pathLst>
                <a:path w="141016" h="216358" extrusionOk="0">
                  <a:moveTo>
                    <a:pt x="0" y="0"/>
                  </a:moveTo>
                  <a:lnTo>
                    <a:pt x="141016" y="0"/>
                  </a:lnTo>
                  <a:lnTo>
                    <a:pt x="141016" y="216358"/>
                  </a:lnTo>
                  <a:lnTo>
                    <a:pt x="0" y="21635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zh-TW" altLang="en-US">
                <a:solidFill>
                  <a:schemeClr val="tx1"/>
                </a:solidFill>
              </a:endParaRPr>
            </a:p>
          </p:txBody>
        </p:sp>
        <p:sp>
          <p:nvSpPr>
            <p:cNvPr id="115" name="Google Shape;115;p1"/>
            <p:cNvSpPr txBox="1"/>
            <p:nvPr/>
          </p:nvSpPr>
          <p:spPr>
            <a:xfrm>
              <a:off x="300801" y="0"/>
              <a:ext cx="2095866" cy="46337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1301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99" b="0" i="0" u="none" strike="noStrike" cap="none" dirty="0">
                  <a:solidFill>
                    <a:schemeClr val="tx1"/>
                  </a:solidFill>
                  <a:latin typeface="Lato"/>
                  <a:ea typeface="Lato"/>
                  <a:cs typeface="Lato"/>
                  <a:sym typeface="Lato"/>
                </a:rPr>
                <a:t>235 新北市中和區景新街274巷1號5F</a:t>
              </a:r>
              <a:endParaRPr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16" name="Google Shape;116;p1"/>
          <p:cNvGrpSpPr/>
          <p:nvPr/>
        </p:nvGrpSpPr>
        <p:grpSpPr>
          <a:xfrm>
            <a:off x="253291" y="4386370"/>
            <a:ext cx="1811410" cy="387798"/>
            <a:chOff x="0" y="-28575"/>
            <a:chExt cx="2415214" cy="517064"/>
          </a:xfrm>
        </p:grpSpPr>
        <p:sp>
          <p:nvSpPr>
            <p:cNvPr id="117" name="Google Shape;117;p1"/>
            <p:cNvSpPr/>
            <p:nvPr/>
          </p:nvSpPr>
          <p:spPr>
            <a:xfrm>
              <a:off x="0" y="15563"/>
              <a:ext cx="172527" cy="170645"/>
            </a:xfrm>
            <a:custGeom>
              <a:avLst/>
              <a:gdLst/>
              <a:ahLst/>
              <a:cxnLst/>
              <a:rect l="l" t="t" r="r" b="b"/>
              <a:pathLst>
                <a:path w="172527" h="170645" extrusionOk="0">
                  <a:moveTo>
                    <a:pt x="0" y="0"/>
                  </a:moveTo>
                  <a:lnTo>
                    <a:pt x="172527" y="0"/>
                  </a:lnTo>
                  <a:lnTo>
                    <a:pt x="172527" y="170645"/>
                  </a:lnTo>
                  <a:lnTo>
                    <a:pt x="0" y="17064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zh-TW" altLang="en-US">
                <a:solidFill>
                  <a:schemeClr val="tx1"/>
                </a:solidFill>
              </a:endParaRPr>
            </a:p>
          </p:txBody>
        </p:sp>
        <p:sp>
          <p:nvSpPr>
            <p:cNvPr id="118" name="Google Shape;118;p1"/>
            <p:cNvSpPr txBox="1"/>
            <p:nvPr/>
          </p:nvSpPr>
          <p:spPr>
            <a:xfrm>
              <a:off x="318732" y="-28575"/>
              <a:ext cx="2096482" cy="5170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b="0" i="0" u="none" strike="noStrike" cap="none" dirty="0">
                  <a:solidFill>
                    <a:schemeClr val="tx1"/>
                  </a:solidFill>
                  <a:latin typeface="Lato"/>
                  <a:ea typeface="Lato"/>
                  <a:cs typeface="Lato"/>
                  <a:sym typeface="Lato"/>
                </a:rPr>
                <a:t>https://www.linkedin.com/in/shang-wei-yang-670b9091/</a:t>
              </a:r>
              <a:endParaRPr dirty="0">
                <a:solidFill>
                  <a:schemeClr val="tx1"/>
                </a:solidFill>
              </a:endParaRPr>
            </a:p>
          </p:txBody>
        </p:sp>
      </p:grpSp>
      <p:sp>
        <p:nvSpPr>
          <p:cNvPr id="119" name="Google Shape;119;p1"/>
          <p:cNvSpPr/>
          <p:nvPr/>
        </p:nvSpPr>
        <p:spPr>
          <a:xfrm>
            <a:off x="2917011" y="3711034"/>
            <a:ext cx="4168586" cy="10765"/>
          </a:xfrm>
          <a:custGeom>
            <a:avLst/>
            <a:gdLst/>
            <a:ahLst/>
            <a:cxnLst/>
            <a:rect l="l" t="t" r="r" b="b"/>
            <a:pathLst>
              <a:path w="27047934" h="69850" extrusionOk="0">
                <a:moveTo>
                  <a:pt x="26757105" y="0"/>
                </a:moveTo>
                <a:lnTo>
                  <a:pt x="0" y="0"/>
                </a:lnTo>
                <a:lnTo>
                  <a:pt x="0" y="69850"/>
                </a:lnTo>
                <a:lnTo>
                  <a:pt x="27047934" y="69850"/>
                </a:lnTo>
                <a:lnTo>
                  <a:pt x="27047934" y="0"/>
                </a:lnTo>
                <a:close/>
              </a:path>
            </a:pathLst>
          </a:custGeom>
          <a:solidFill>
            <a:srgbClr val="163853"/>
          </a:solidFill>
          <a:ln>
            <a:noFill/>
          </a:ln>
        </p:spPr>
        <p:txBody>
          <a:bodyPr/>
          <a:lstStyle/>
          <a:p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120" name="Google Shape;120;p1"/>
          <p:cNvSpPr/>
          <p:nvPr/>
        </p:nvSpPr>
        <p:spPr>
          <a:xfrm>
            <a:off x="2908867" y="9310566"/>
            <a:ext cx="4195489" cy="10765"/>
          </a:xfrm>
          <a:custGeom>
            <a:avLst/>
            <a:gdLst/>
            <a:ahLst/>
            <a:cxnLst/>
            <a:rect l="l" t="t" r="r" b="b"/>
            <a:pathLst>
              <a:path w="27222487" h="69850" extrusionOk="0">
                <a:moveTo>
                  <a:pt x="26931658" y="0"/>
                </a:moveTo>
                <a:lnTo>
                  <a:pt x="0" y="0"/>
                </a:lnTo>
                <a:lnTo>
                  <a:pt x="0" y="69850"/>
                </a:lnTo>
                <a:lnTo>
                  <a:pt x="27222487" y="69850"/>
                </a:lnTo>
                <a:lnTo>
                  <a:pt x="27222487" y="0"/>
                </a:lnTo>
                <a:close/>
              </a:path>
            </a:pathLst>
          </a:custGeom>
          <a:solidFill>
            <a:srgbClr val="163853"/>
          </a:solidFill>
          <a:ln>
            <a:noFill/>
          </a:ln>
        </p:spPr>
        <p:txBody>
          <a:bodyPr/>
          <a:lstStyle/>
          <a:p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121" name="Google Shape;121;p1"/>
          <p:cNvSpPr/>
          <p:nvPr/>
        </p:nvSpPr>
        <p:spPr>
          <a:xfrm>
            <a:off x="2891447" y="2014950"/>
            <a:ext cx="4177631" cy="10765"/>
          </a:xfrm>
          <a:custGeom>
            <a:avLst/>
            <a:gdLst/>
            <a:ahLst/>
            <a:cxnLst/>
            <a:rect l="l" t="t" r="r" b="b"/>
            <a:pathLst>
              <a:path w="27106621" h="69850" extrusionOk="0">
                <a:moveTo>
                  <a:pt x="26815790" y="0"/>
                </a:moveTo>
                <a:lnTo>
                  <a:pt x="0" y="0"/>
                </a:lnTo>
                <a:lnTo>
                  <a:pt x="0" y="69850"/>
                </a:lnTo>
                <a:lnTo>
                  <a:pt x="27106621" y="69850"/>
                </a:lnTo>
                <a:lnTo>
                  <a:pt x="27106621" y="0"/>
                </a:lnTo>
                <a:close/>
              </a:path>
            </a:pathLst>
          </a:custGeom>
          <a:solidFill>
            <a:srgbClr val="163853"/>
          </a:solidFill>
          <a:ln>
            <a:noFill/>
          </a:ln>
        </p:spPr>
        <p:txBody>
          <a:bodyPr/>
          <a:lstStyle/>
          <a:p>
            <a:endParaRPr lang="zh-TW" altLang="en-US">
              <a:solidFill>
                <a:schemeClr val="tx1"/>
              </a:solidFill>
            </a:endParaRPr>
          </a:p>
        </p:txBody>
      </p:sp>
      <p:grpSp>
        <p:nvGrpSpPr>
          <p:cNvPr id="122" name="Google Shape;122;p1"/>
          <p:cNvGrpSpPr/>
          <p:nvPr/>
        </p:nvGrpSpPr>
        <p:grpSpPr>
          <a:xfrm>
            <a:off x="2513575" y="1762068"/>
            <a:ext cx="256129" cy="256129"/>
            <a:chOff x="0" y="0"/>
            <a:chExt cx="812800" cy="812800"/>
          </a:xfrm>
        </p:grpSpPr>
        <p:sp>
          <p:nvSpPr>
            <p:cNvPr id="123" name="Google Shape;123;p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23B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/>
                </a:solidFill>
              </a:endParaRPr>
            </a:p>
          </p:txBody>
        </p:sp>
        <p:sp>
          <p:nvSpPr>
            <p:cNvPr id="124" name="Google Shape;124;p1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7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5" name="Google Shape;125;p1"/>
          <p:cNvGrpSpPr/>
          <p:nvPr/>
        </p:nvGrpSpPr>
        <p:grpSpPr>
          <a:xfrm>
            <a:off x="2556022" y="9017201"/>
            <a:ext cx="256129" cy="256129"/>
            <a:chOff x="0" y="0"/>
            <a:chExt cx="812800" cy="812800"/>
          </a:xfrm>
        </p:grpSpPr>
        <p:sp>
          <p:nvSpPr>
            <p:cNvPr id="126" name="Google Shape;126;p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23B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/>
                </a:solidFill>
              </a:endParaRPr>
            </a:p>
          </p:txBody>
        </p:sp>
        <p:sp>
          <p:nvSpPr>
            <p:cNvPr id="127" name="Google Shape;127;p1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7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8" name="Google Shape;128;p1"/>
          <p:cNvSpPr/>
          <p:nvPr/>
        </p:nvSpPr>
        <p:spPr>
          <a:xfrm>
            <a:off x="2591377" y="2321489"/>
            <a:ext cx="117628" cy="137358"/>
          </a:xfrm>
          <a:custGeom>
            <a:avLst/>
            <a:gdLst/>
            <a:ahLst/>
            <a:cxnLst/>
            <a:rect l="l" t="t" r="r" b="b"/>
            <a:pathLst>
              <a:path w="117628" h="137358" extrusionOk="0">
                <a:moveTo>
                  <a:pt x="0" y="0"/>
                </a:moveTo>
                <a:lnTo>
                  <a:pt x="117628" y="0"/>
                </a:lnTo>
                <a:lnTo>
                  <a:pt x="117628" y="137358"/>
                </a:lnTo>
                <a:lnTo>
                  <a:pt x="0" y="1373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129" name="Google Shape;129;p1"/>
          <p:cNvSpPr/>
          <p:nvPr/>
        </p:nvSpPr>
        <p:spPr>
          <a:xfrm>
            <a:off x="2556022" y="3434040"/>
            <a:ext cx="256129" cy="256129"/>
          </a:xfrm>
          <a:custGeom>
            <a:avLst/>
            <a:gdLst/>
            <a:ahLst/>
            <a:cxnLst/>
            <a:rect l="l" t="t" r="r" b="b"/>
            <a:pathLst>
              <a:path w="256129" h="256129" extrusionOk="0">
                <a:moveTo>
                  <a:pt x="0" y="0"/>
                </a:moveTo>
                <a:lnTo>
                  <a:pt x="256130" y="0"/>
                </a:lnTo>
                <a:lnTo>
                  <a:pt x="256130" y="256130"/>
                </a:lnTo>
                <a:lnTo>
                  <a:pt x="0" y="2561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130" name="Google Shape;130;p1"/>
          <p:cNvSpPr/>
          <p:nvPr/>
        </p:nvSpPr>
        <p:spPr>
          <a:xfrm>
            <a:off x="2610223" y="9080687"/>
            <a:ext cx="178956" cy="123967"/>
          </a:xfrm>
          <a:custGeom>
            <a:avLst/>
            <a:gdLst/>
            <a:ahLst/>
            <a:cxnLst/>
            <a:rect l="l" t="t" r="r" b="b"/>
            <a:pathLst>
              <a:path w="178956" h="123967" extrusionOk="0">
                <a:moveTo>
                  <a:pt x="0" y="0"/>
                </a:moveTo>
                <a:lnTo>
                  <a:pt x="178955" y="0"/>
                </a:lnTo>
                <a:lnTo>
                  <a:pt x="178955" y="123968"/>
                </a:lnTo>
                <a:lnTo>
                  <a:pt x="0" y="1239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zh-TW" altLang="en-US">
              <a:solidFill>
                <a:schemeClr val="tx1"/>
              </a:solidFill>
            </a:endParaRPr>
          </a:p>
        </p:txBody>
      </p:sp>
      <p:cxnSp>
        <p:nvCxnSpPr>
          <p:cNvPr id="131" name="Google Shape;131;p1"/>
          <p:cNvCxnSpPr>
            <a:cxnSpLocks/>
          </p:cNvCxnSpPr>
          <p:nvPr/>
        </p:nvCxnSpPr>
        <p:spPr>
          <a:xfrm>
            <a:off x="2672757" y="2110328"/>
            <a:ext cx="0" cy="1231668"/>
          </a:xfrm>
          <a:prstGeom prst="straightConnector1">
            <a:avLst/>
          </a:prstGeom>
          <a:noFill/>
          <a:ln w="9525" cap="flat" cmpd="sng">
            <a:solidFill>
              <a:srgbClr val="323B4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5" name="Google Shape;135;p1"/>
          <p:cNvCxnSpPr>
            <a:cxnSpLocks/>
          </p:cNvCxnSpPr>
          <p:nvPr/>
        </p:nvCxnSpPr>
        <p:spPr>
          <a:xfrm flipH="1">
            <a:off x="2684085" y="3735646"/>
            <a:ext cx="1" cy="5158047"/>
          </a:xfrm>
          <a:prstGeom prst="straightConnector1">
            <a:avLst/>
          </a:prstGeom>
          <a:noFill/>
          <a:ln w="9525" cap="flat" cmpd="sng">
            <a:solidFill>
              <a:srgbClr val="323B4C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36" name="Google Shape;136;p1"/>
          <p:cNvGrpSpPr/>
          <p:nvPr/>
        </p:nvGrpSpPr>
        <p:grpSpPr>
          <a:xfrm>
            <a:off x="2650830" y="3842759"/>
            <a:ext cx="74965" cy="74965"/>
            <a:chOff x="0" y="0"/>
            <a:chExt cx="812800" cy="812800"/>
          </a:xfrm>
        </p:grpSpPr>
        <p:sp>
          <p:nvSpPr>
            <p:cNvPr id="137" name="Google Shape;137;p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FDFD"/>
            </a:solidFill>
            <a:ln w="9525" cap="sq" cmpd="sng">
              <a:solidFill>
                <a:srgbClr val="323B4C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/>
                </a:solidFill>
              </a:endParaRPr>
            </a:p>
          </p:txBody>
        </p:sp>
        <p:sp>
          <p:nvSpPr>
            <p:cNvPr id="138" name="Google Shape;138;p1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7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9" name="Google Shape;139;p1"/>
          <p:cNvGrpSpPr/>
          <p:nvPr/>
        </p:nvGrpSpPr>
        <p:grpSpPr>
          <a:xfrm>
            <a:off x="2639789" y="6389214"/>
            <a:ext cx="74965" cy="74965"/>
            <a:chOff x="0" y="0"/>
            <a:chExt cx="812800" cy="812800"/>
          </a:xfrm>
        </p:grpSpPr>
        <p:sp>
          <p:nvSpPr>
            <p:cNvPr id="140" name="Google Shape;140;p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FDFD"/>
            </a:solidFill>
            <a:ln w="9525" cap="sq" cmpd="sng">
              <a:solidFill>
                <a:srgbClr val="323B4C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/>
                </a:solidFill>
              </a:endParaRPr>
            </a:p>
          </p:txBody>
        </p:sp>
        <p:sp>
          <p:nvSpPr>
            <p:cNvPr id="141" name="Google Shape;141;p1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7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2" name="Google Shape;142;p1"/>
          <p:cNvGrpSpPr/>
          <p:nvPr/>
        </p:nvGrpSpPr>
        <p:grpSpPr>
          <a:xfrm>
            <a:off x="2639789" y="7392374"/>
            <a:ext cx="74965" cy="74965"/>
            <a:chOff x="0" y="0"/>
            <a:chExt cx="812800" cy="812800"/>
          </a:xfrm>
        </p:grpSpPr>
        <p:sp>
          <p:nvSpPr>
            <p:cNvPr id="143" name="Google Shape;143;p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FDFD"/>
            </a:solidFill>
            <a:ln w="9525" cap="sq" cmpd="sng">
              <a:solidFill>
                <a:srgbClr val="323B4C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/>
                </a:solidFill>
              </a:endParaRPr>
            </a:p>
          </p:txBody>
        </p:sp>
        <p:sp>
          <p:nvSpPr>
            <p:cNvPr id="144" name="Google Shape;144;p1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7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45" name="Google Shape;145;p1"/>
          <p:cNvCxnSpPr>
            <a:cxnSpLocks/>
          </p:cNvCxnSpPr>
          <p:nvPr/>
        </p:nvCxnSpPr>
        <p:spPr>
          <a:xfrm flipH="1">
            <a:off x="2684085" y="9251683"/>
            <a:ext cx="195" cy="1320523"/>
          </a:xfrm>
          <a:prstGeom prst="straightConnector1">
            <a:avLst/>
          </a:prstGeom>
          <a:noFill/>
          <a:ln w="9525" cap="flat" cmpd="sng">
            <a:solidFill>
              <a:srgbClr val="323B4C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46" name="Google Shape;146;p1"/>
          <p:cNvGrpSpPr/>
          <p:nvPr/>
        </p:nvGrpSpPr>
        <p:grpSpPr>
          <a:xfrm>
            <a:off x="2653631" y="10257284"/>
            <a:ext cx="74965" cy="74965"/>
            <a:chOff x="0" y="0"/>
            <a:chExt cx="812800" cy="812800"/>
          </a:xfrm>
        </p:grpSpPr>
        <p:sp>
          <p:nvSpPr>
            <p:cNvPr id="147" name="Google Shape;147;p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FDFD"/>
            </a:solidFill>
            <a:ln w="9525" cap="sq" cmpd="sng">
              <a:solidFill>
                <a:srgbClr val="323B4C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/>
                </a:solidFill>
              </a:endParaRPr>
            </a:p>
          </p:txBody>
        </p:sp>
        <p:sp>
          <p:nvSpPr>
            <p:cNvPr id="148" name="Google Shape;148;p1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7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9" name="Google Shape;149;p1"/>
          <p:cNvGrpSpPr/>
          <p:nvPr/>
        </p:nvGrpSpPr>
        <p:grpSpPr>
          <a:xfrm>
            <a:off x="2646603" y="9471509"/>
            <a:ext cx="74965" cy="74965"/>
            <a:chOff x="0" y="0"/>
            <a:chExt cx="812800" cy="812800"/>
          </a:xfrm>
        </p:grpSpPr>
        <p:sp>
          <p:nvSpPr>
            <p:cNvPr id="150" name="Google Shape;150;p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FDFD"/>
            </a:solidFill>
            <a:ln w="9525" cap="sq" cmpd="sng">
              <a:solidFill>
                <a:srgbClr val="323B4C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/>
                </a:solidFill>
              </a:endParaRPr>
            </a:p>
          </p:txBody>
        </p:sp>
        <p:sp>
          <p:nvSpPr>
            <p:cNvPr id="151" name="Google Shape;151;p1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7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2" name="Google Shape;152;p1"/>
          <p:cNvSpPr/>
          <p:nvPr/>
        </p:nvSpPr>
        <p:spPr>
          <a:xfrm>
            <a:off x="2560379" y="1795772"/>
            <a:ext cx="163567" cy="163567"/>
          </a:xfrm>
          <a:custGeom>
            <a:avLst/>
            <a:gdLst/>
            <a:ahLst/>
            <a:cxnLst/>
            <a:rect l="l" t="t" r="r" b="b"/>
            <a:pathLst>
              <a:path w="163567" h="163567" extrusionOk="0">
                <a:moveTo>
                  <a:pt x="0" y="0"/>
                </a:moveTo>
                <a:lnTo>
                  <a:pt x="163567" y="0"/>
                </a:lnTo>
                <a:lnTo>
                  <a:pt x="163567" y="163567"/>
                </a:lnTo>
                <a:lnTo>
                  <a:pt x="0" y="16356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53" name="Google Shape;153;p1"/>
          <p:cNvSpPr txBox="1"/>
          <p:nvPr/>
        </p:nvSpPr>
        <p:spPr>
          <a:xfrm>
            <a:off x="68329" y="5218184"/>
            <a:ext cx="2219106" cy="2154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5901" lvl="1" indent="-107951">
              <a:lnSpc>
                <a:spcPct val="200000"/>
              </a:lnSpc>
              <a:buClr>
                <a:srgbClr val="323B4C"/>
              </a:buClr>
              <a:buSzPts val="1000"/>
              <a:buFont typeface="Arial"/>
              <a:buChar char="•"/>
            </a:pPr>
            <a:r>
              <a:rPr lang="zh-TW" altLang="en-US" sz="1000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資料分析與視覺化</a:t>
            </a:r>
            <a:r>
              <a:rPr lang="en-US" altLang="zh-TW" sz="1000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: Power BI, Tableau, GA4,  Looker Studio, Excel</a:t>
            </a:r>
            <a:endParaRPr lang="en-US" sz="1000" b="0" i="0" u="none" strike="noStrike" cap="none" dirty="0">
              <a:solidFill>
                <a:schemeClr val="tx1"/>
              </a:solidFill>
              <a:latin typeface="Lato"/>
              <a:ea typeface="Lato"/>
              <a:cs typeface="Lato"/>
              <a:sym typeface="Lato"/>
            </a:endParaRPr>
          </a:p>
          <a:p>
            <a:pPr marL="215901" marR="0" lvl="1" indent="-107951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23B4C"/>
              </a:buClr>
              <a:buSzPts val="1000"/>
              <a:buFont typeface="Arial"/>
              <a:buChar char="•"/>
            </a:pPr>
            <a:r>
              <a:rPr lang="en-US" sz="1000" b="0" i="0" u="none" strike="noStrike" cap="none" dirty="0" err="1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程式語言</a:t>
            </a:r>
            <a:r>
              <a:rPr lang="en-US" sz="1000" b="0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: Python, SQL, ETL</a:t>
            </a:r>
            <a:endParaRPr dirty="0">
              <a:solidFill>
                <a:schemeClr val="tx1"/>
              </a:solidFill>
            </a:endParaRPr>
          </a:p>
          <a:p>
            <a:pPr marL="215901" marR="0" lvl="1" indent="-107951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23B4C"/>
              </a:buClr>
              <a:buSzPts val="1000"/>
              <a:buFont typeface="Arial"/>
              <a:buChar char="•"/>
            </a:pPr>
            <a:r>
              <a:rPr lang="en-US" sz="1000" b="0" i="0" u="none" strike="noStrike" cap="none" dirty="0" err="1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雲端平台</a:t>
            </a:r>
            <a:r>
              <a:rPr lang="en-US" sz="1000" b="0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: GCP (</a:t>
            </a:r>
            <a:r>
              <a:rPr lang="en-US" sz="1000" b="0" i="0" u="none" strike="noStrike" cap="none" dirty="0" err="1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BigQuery</a:t>
            </a:r>
            <a:r>
              <a:rPr lang="en-US" sz="1000" b="0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), AWS</a:t>
            </a:r>
            <a:endParaRPr sz="1000" b="0" i="0" u="none" strike="noStrike" cap="none" dirty="0">
              <a:solidFill>
                <a:schemeClr val="tx1"/>
              </a:solidFill>
              <a:latin typeface="Lato"/>
              <a:ea typeface="Lato"/>
              <a:cs typeface="Lato"/>
              <a:sym typeface="Lato"/>
            </a:endParaRPr>
          </a:p>
          <a:p>
            <a:pPr marL="215901" marR="0" lvl="1" indent="-107951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23B4C"/>
              </a:buClr>
              <a:buSzPts val="1000"/>
              <a:buFont typeface="Arial"/>
              <a:buChar char="•"/>
            </a:pPr>
            <a:r>
              <a:rPr lang="en-US" sz="1000" b="0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AI: RAG </a:t>
            </a:r>
            <a:r>
              <a:rPr lang="zh-TW" altLang="en-US" sz="1000" b="0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架構</a:t>
            </a:r>
            <a:r>
              <a:rPr lang="en-US" sz="1000" b="0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, Agentic AI</a:t>
            </a:r>
            <a:endParaRPr dirty="0">
              <a:solidFill>
                <a:schemeClr val="tx1"/>
              </a:solidFill>
            </a:endParaRPr>
          </a:p>
          <a:p>
            <a:pPr marL="215901" marR="0" lvl="1" indent="-107951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23B4C"/>
              </a:buClr>
              <a:buSzPts val="1000"/>
              <a:buFont typeface="Arial"/>
              <a:buChar char="•"/>
            </a:pPr>
            <a:r>
              <a:rPr lang="en-US" sz="1000" b="0" i="0" u="none" strike="noStrike" cap="none" dirty="0" err="1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其他</a:t>
            </a:r>
            <a:r>
              <a:rPr lang="en-US" sz="1000" b="0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: Docker, Git, </a:t>
            </a:r>
            <a:r>
              <a:rPr lang="en-US" sz="1000" b="0" i="0" u="none" strike="noStrike" cap="none" dirty="0" err="1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專案管理</a:t>
            </a:r>
            <a:endParaRPr sz="1000" b="0" i="0" u="none" strike="noStrike" cap="none" dirty="0">
              <a:solidFill>
                <a:schemeClr val="tx1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b="0" i="0" u="none" strike="noStrike" cap="none" dirty="0">
              <a:solidFill>
                <a:schemeClr val="tx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4" name="Google Shape;154;p1"/>
          <p:cNvSpPr txBox="1"/>
          <p:nvPr/>
        </p:nvSpPr>
        <p:spPr>
          <a:xfrm>
            <a:off x="85850" y="7550734"/>
            <a:ext cx="1889327" cy="691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5899" marR="0" lvl="1" indent="-107950" algn="just" rtl="0">
              <a:lnSpc>
                <a:spcPct val="150050"/>
              </a:lnSpc>
              <a:spcBef>
                <a:spcPts val="0"/>
              </a:spcBef>
              <a:spcAft>
                <a:spcPts val="0"/>
              </a:spcAft>
              <a:buClr>
                <a:srgbClr val="323B4C"/>
              </a:buClr>
              <a:buSzPts val="999"/>
              <a:buFont typeface="Arial"/>
              <a:buChar char="•"/>
            </a:pPr>
            <a:r>
              <a:rPr lang="en-US" sz="999" b="0" i="0" u="none" strike="noStrike" cap="none" dirty="0" err="1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中文</a:t>
            </a:r>
            <a:r>
              <a:rPr lang="en-US" sz="999" b="0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(</a:t>
            </a:r>
            <a:r>
              <a:rPr lang="en-US" sz="999" b="0" i="0" u="none" strike="noStrike" cap="none" dirty="0" err="1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母語</a:t>
            </a:r>
            <a:r>
              <a:rPr lang="en-US" sz="999" b="0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)</a:t>
            </a:r>
            <a:endParaRPr dirty="0">
              <a:solidFill>
                <a:schemeClr val="tx1"/>
              </a:solidFill>
            </a:endParaRPr>
          </a:p>
          <a:p>
            <a:pPr marL="215899" marR="0" lvl="1" indent="-107950" algn="just" rtl="0">
              <a:lnSpc>
                <a:spcPct val="150050"/>
              </a:lnSpc>
              <a:spcBef>
                <a:spcPts val="0"/>
              </a:spcBef>
              <a:spcAft>
                <a:spcPts val="0"/>
              </a:spcAft>
              <a:buClr>
                <a:srgbClr val="323B4C"/>
              </a:buClr>
              <a:buSzPts val="999"/>
              <a:buFont typeface="Arial"/>
              <a:buChar char="•"/>
            </a:pPr>
            <a:r>
              <a:rPr lang="en-US" sz="999" b="0" i="0" u="none" strike="noStrike" cap="none" dirty="0" err="1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英文</a:t>
            </a:r>
            <a:r>
              <a:rPr lang="en-US" sz="999" b="0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(</a:t>
            </a:r>
            <a:r>
              <a:rPr lang="en-US" sz="999" b="0" i="0" u="none" strike="noStrike" cap="none" dirty="0" err="1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流利</a:t>
            </a:r>
            <a:r>
              <a:rPr lang="en-US" sz="999" b="0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)  TOEIC 925</a:t>
            </a:r>
            <a:endParaRPr dirty="0">
              <a:solidFill>
                <a:schemeClr val="tx1"/>
              </a:solidFill>
            </a:endParaRPr>
          </a:p>
          <a:p>
            <a:pPr marL="215899" marR="0" lvl="1" indent="-107950" algn="just" rtl="0">
              <a:lnSpc>
                <a:spcPct val="150050"/>
              </a:lnSpc>
              <a:spcBef>
                <a:spcPts val="0"/>
              </a:spcBef>
              <a:spcAft>
                <a:spcPts val="0"/>
              </a:spcAft>
              <a:buClr>
                <a:srgbClr val="323B4C"/>
              </a:buClr>
              <a:buSzPts val="999"/>
              <a:buFont typeface="Arial"/>
              <a:buChar char="•"/>
            </a:pPr>
            <a:r>
              <a:rPr lang="en-US" sz="999" b="0" i="0" u="none" strike="noStrike" cap="none" dirty="0" err="1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日文</a:t>
            </a:r>
            <a:r>
              <a:rPr lang="en-US" sz="999" b="0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(</a:t>
            </a:r>
            <a:r>
              <a:rPr lang="en-US" sz="999" b="0" i="0" u="none" strike="noStrike" cap="none" dirty="0" err="1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流利</a:t>
            </a:r>
            <a:r>
              <a:rPr lang="en-US" sz="999" b="0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)  JLPT N1 163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55" name="Google Shape;155;p1"/>
          <p:cNvSpPr txBox="1"/>
          <p:nvPr/>
        </p:nvSpPr>
        <p:spPr>
          <a:xfrm>
            <a:off x="2917011" y="591253"/>
            <a:ext cx="4187345" cy="4158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2" b="1" i="0" u="none" strike="noStrike" cap="none" dirty="0" err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Arial"/>
              </a:rPr>
              <a:t>楊上瑋</a:t>
            </a:r>
            <a:r>
              <a:rPr lang="en-US" sz="2702" b="1" i="0" u="none" strike="noStrike" cap="none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Arial"/>
              </a:rPr>
              <a:t>  </a:t>
            </a:r>
            <a:r>
              <a:rPr lang="en-US" sz="2702" b="1" i="0" u="none" strike="noStrike" cap="none" dirty="0">
                <a:solidFill>
                  <a:schemeClr val="bg1"/>
                </a:solidFill>
                <a:latin typeface="+mn-lt"/>
                <a:ea typeface="微軟正黑體" panose="020B0604030504040204" pitchFamily="34" charset="-120"/>
                <a:sym typeface="Arial"/>
              </a:rPr>
              <a:t>JOY YANG</a:t>
            </a:r>
            <a:endParaRPr dirty="0">
              <a:solidFill>
                <a:schemeClr val="bg1"/>
              </a:solidFill>
              <a:latin typeface="+mn-lt"/>
              <a:ea typeface="微軟正黑體" panose="020B0604030504040204" pitchFamily="34" charset="-120"/>
            </a:endParaRPr>
          </a:p>
        </p:txBody>
      </p:sp>
      <p:sp>
        <p:nvSpPr>
          <p:cNvPr id="156" name="Google Shape;156;p1"/>
          <p:cNvSpPr txBox="1"/>
          <p:nvPr/>
        </p:nvSpPr>
        <p:spPr>
          <a:xfrm>
            <a:off x="2941518" y="1117049"/>
            <a:ext cx="4195489" cy="301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dirty="0" err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Arial"/>
              </a:rPr>
              <a:t>數據</a:t>
            </a:r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分析師</a:t>
            </a:r>
            <a:endParaRPr b="1" i="0" u="none" strike="noStrike" cap="none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  <a:sym typeface="Arial"/>
            </a:endParaRPr>
          </a:p>
        </p:txBody>
      </p:sp>
      <p:sp>
        <p:nvSpPr>
          <p:cNvPr id="157" name="Google Shape;157;p1"/>
          <p:cNvSpPr txBox="1"/>
          <p:nvPr/>
        </p:nvSpPr>
        <p:spPr>
          <a:xfrm>
            <a:off x="2901746" y="3385189"/>
            <a:ext cx="4177631" cy="301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工作經歷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58" name="Google Shape;158;p1"/>
          <p:cNvSpPr txBox="1"/>
          <p:nvPr/>
        </p:nvSpPr>
        <p:spPr>
          <a:xfrm>
            <a:off x="2894700" y="8981416"/>
            <a:ext cx="4199942" cy="301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教育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59" name="Google Shape;159;p1"/>
          <p:cNvSpPr txBox="1"/>
          <p:nvPr/>
        </p:nvSpPr>
        <p:spPr>
          <a:xfrm>
            <a:off x="2917011" y="1697263"/>
            <a:ext cx="4177631" cy="301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個人簡介</a:t>
            </a:r>
            <a:endParaRPr sz="1400" b="1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1"/>
          <p:cNvSpPr txBox="1"/>
          <p:nvPr/>
        </p:nvSpPr>
        <p:spPr>
          <a:xfrm>
            <a:off x="2851996" y="2142766"/>
            <a:ext cx="4437339" cy="1154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zh-TW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Lato"/>
                <a:sym typeface="Lato"/>
              </a:rPr>
              <a:t>8年跨媒體與新聞產業數據分析經驗，擅長用SQL、Python整合多源數據，以Power BI建置儀表板並提出可執行建議。於TaiwanPlus建立成效儀表板與月報；競品分析找出藍海受眾；留存分析使頻道KPI提升50%。經濟學碩士，中英日三語。</a:t>
            </a:r>
            <a:r>
              <a:rPr kumimoji="0" lang="zh-TW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Lato"/>
                <a:sym typeface="Lato"/>
              </a:rPr>
              <a:t/>
            </a:r>
            <a:r>
              <a:rPr kumimoji="0" lang="en-US" altLang="zh-TW" sz="1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Lato"/>
                <a:sym typeface="Lato"/>
              </a:rPr>
              <a:t/>
            </a:r>
            <a:r>
              <a:rPr kumimoji="0" lang="zh-TW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Lato"/>
                <a:sym typeface="Lato"/>
              </a:rPr>
              <a:t/>
            </a:r>
            <a:r>
              <a:rPr kumimoji="0" lang="en-US" altLang="zh-TW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Lato"/>
                <a:sym typeface="Lato"/>
              </a:rPr>
              <a:t/>
            </a:r>
            <a:r>
              <a:rPr kumimoji="0" lang="zh-TW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Lato"/>
                <a:sym typeface="Lato"/>
              </a:rPr>
              <a:t/>
            </a:r>
            <a:r>
              <a:rPr kumimoji="0" lang="en-US" altLang="zh-TW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Lato"/>
                <a:sym typeface="Lato"/>
              </a:rPr>
              <a:t/>
            </a:r>
            <a:r>
              <a:rPr kumimoji="0" lang="zh-TW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Lato"/>
                <a:sym typeface="Lato"/>
              </a:rPr>
              <a:t/>
            </a:r>
            <a:r>
              <a:rPr kumimoji="0" lang="en-US" altLang="zh-TW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Lato"/>
                <a:sym typeface="Lato"/>
              </a:rPr>
              <a:t/>
            </a:r>
            <a:r>
              <a:rPr kumimoji="0" lang="zh-TW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Lato"/>
                <a:sym typeface="Lato"/>
              </a:rPr>
              <a:t/>
            </a:r>
            <a:r>
              <a:rPr kumimoji="0" lang="en-US" altLang="zh-TW" sz="1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Lato"/>
                <a:sym typeface="Lato"/>
              </a:rPr>
              <a:t/>
            </a:r>
            <a:r>
              <a:rPr kumimoji="0" lang="en-US" altLang="zh-TW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Lato"/>
                <a:sym typeface="Lato"/>
              </a:rPr>
              <a:t/>
            </a:r>
            <a:r>
              <a:rPr kumimoji="0" lang="zh-TW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Lato"/>
                <a:sym typeface="Lato"/>
              </a:rPr>
              <a:t/>
            </a:r>
            <a:endParaRPr kumimoji="0" lang="zh-TW" altLang="en-US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Arial"/>
              <a:sym typeface="Arial"/>
            </a:endParaRPr>
          </a:p>
        </p:txBody>
      </p:sp>
      <p:sp>
        <p:nvSpPr>
          <p:cNvPr id="161" name="Google Shape;161;p1"/>
          <p:cNvSpPr txBox="1"/>
          <p:nvPr/>
        </p:nvSpPr>
        <p:spPr>
          <a:xfrm>
            <a:off x="5740953" y="3776805"/>
            <a:ext cx="1179676" cy="2152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99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2025/05 - </a:t>
            </a:r>
            <a:r>
              <a:rPr lang="en-US" sz="999" b="0" i="0" u="none" strike="noStrike" cap="none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至今</a:t>
            </a:r>
            <a:endParaRPr sz="999" b="0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1"/>
          <p:cNvSpPr txBox="1"/>
          <p:nvPr/>
        </p:nvSpPr>
        <p:spPr>
          <a:xfrm>
            <a:off x="2885926" y="3723300"/>
            <a:ext cx="1957265" cy="23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TaiwanPlus</a:t>
            </a:r>
            <a:endParaRPr sz="1100" b="1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1"/>
          <p:cNvSpPr txBox="1"/>
          <p:nvPr/>
        </p:nvSpPr>
        <p:spPr>
          <a:xfrm>
            <a:off x="2888563" y="3970146"/>
            <a:ext cx="2483687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 dirty="0" err="1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>資料分析師</a:t>
            </a:r>
            <a:endParaRPr sz="1000" b="0" i="0" u="none" strike="noStrike" cap="none" dirty="0">
              <a:solidFill>
                <a:schemeClr val="tx1"/>
              </a:solidFill>
              <a:latin typeface="+mn-ea"/>
              <a:ea typeface="+mn-ea"/>
              <a:cs typeface="Lato"/>
              <a:sym typeface="Lato"/>
            </a:endParaRPr>
          </a:p>
        </p:txBody>
      </p:sp>
      <p:sp>
        <p:nvSpPr>
          <p:cNvPr id="164" name="Google Shape;164;p1"/>
          <p:cNvSpPr txBox="1"/>
          <p:nvPr/>
        </p:nvSpPr>
        <p:spPr>
          <a:xfrm>
            <a:off x="5873107" y="6349764"/>
            <a:ext cx="126390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2025/04 - 2025/05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65" name="Google Shape;165;p1"/>
          <p:cNvSpPr txBox="1"/>
          <p:nvPr/>
        </p:nvSpPr>
        <p:spPr>
          <a:xfrm>
            <a:off x="2908867" y="6331300"/>
            <a:ext cx="2228700" cy="23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 dirty="0" err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Arial"/>
              </a:rPr>
              <a:t>聯合報系</a:t>
            </a:r>
            <a:endParaRPr sz="1100" b="1" i="0" u="none" strike="noStrike" cap="none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  <a:sym typeface="Arial"/>
            </a:endParaRPr>
          </a:p>
        </p:txBody>
      </p:sp>
      <p:sp>
        <p:nvSpPr>
          <p:cNvPr id="166" name="Google Shape;166;p1"/>
          <p:cNvSpPr txBox="1"/>
          <p:nvPr/>
        </p:nvSpPr>
        <p:spPr>
          <a:xfrm>
            <a:off x="2927066" y="6557274"/>
            <a:ext cx="242370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 dirty="0" err="1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>資料分析師</a:t>
            </a:r>
            <a:endParaRPr sz="1000" b="0" i="0" u="none" strike="noStrike" cap="none" dirty="0">
              <a:solidFill>
                <a:schemeClr val="tx1"/>
              </a:solidFill>
              <a:latin typeface="+mn-ea"/>
              <a:ea typeface="+mn-ea"/>
              <a:cs typeface="Lato"/>
              <a:sym typeface="Lato"/>
            </a:endParaRPr>
          </a:p>
        </p:txBody>
      </p:sp>
      <p:sp>
        <p:nvSpPr>
          <p:cNvPr id="167" name="Google Shape;167;p1"/>
          <p:cNvSpPr txBox="1"/>
          <p:nvPr/>
        </p:nvSpPr>
        <p:spPr>
          <a:xfrm>
            <a:off x="5922529" y="7317341"/>
            <a:ext cx="119910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2018/11 - 2024/03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68" name="Google Shape;168;p1"/>
          <p:cNvSpPr txBox="1"/>
          <p:nvPr/>
        </p:nvSpPr>
        <p:spPr>
          <a:xfrm>
            <a:off x="2927066" y="7313416"/>
            <a:ext cx="1946100" cy="23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Arial"/>
              </a:rPr>
              <a:t>紅野畫廊</a:t>
            </a:r>
            <a:endParaRPr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9" name="Google Shape;169;p1"/>
          <p:cNvSpPr txBox="1"/>
          <p:nvPr/>
        </p:nvSpPr>
        <p:spPr>
          <a:xfrm>
            <a:off x="2941518" y="7532785"/>
            <a:ext cx="2228700" cy="236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 dirty="0" err="1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>藝廊經理</a:t>
            </a:r>
            <a:r>
              <a:rPr lang="en-US" sz="1099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70" name="Google Shape;170;p1"/>
          <p:cNvSpPr txBox="1"/>
          <p:nvPr/>
        </p:nvSpPr>
        <p:spPr>
          <a:xfrm>
            <a:off x="2809776" y="4199671"/>
            <a:ext cx="4479557" cy="2154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05106" marR="0" lvl="1" indent="-102553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23B4C"/>
              </a:buClr>
              <a:buSzPts val="950"/>
              <a:buFont typeface="Arial"/>
              <a:buChar char="•"/>
            </a:pPr>
            <a:r>
              <a:rPr lang="zh-TW" altLang="en-US" sz="1000" b="1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>KPI儀表板與月報自動化：</a:t>
            </a:r>
            <a:r>
              <a:rPr lang="zh-TW" altLang="en-US" sz="100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>建立官網與App儀表板，成為跨部門依據；自動化BigQuery管線，資料作業效率提升100%。</a:t>
            </a:r>
            <a:r>
              <a:rPr lang="en-US" altLang="zh-TW" sz="100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/>
            </a:r>
            <a:r>
              <a:rPr lang="zh-TW" altLang="en-US" sz="100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/>
            </a:r>
            <a:r>
              <a:rPr lang="en-US" altLang="zh-TW" sz="100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/>
            </a:r>
            <a:r>
              <a:rPr lang="zh-TW" altLang="en-US" sz="100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/>
            </a:r>
          </a:p>
          <a:p>
            <a:pPr marL="205106" marR="0" lvl="1" indent="-102553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23B4C"/>
              </a:buClr>
              <a:buSzPts val="950"/>
              <a:buFont typeface="Arial"/>
              <a:buChar char="•"/>
            </a:pPr>
            <a:r>
              <a:rPr lang="zh-TW" altLang="en-US" sz="1000" b="1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>競品分析與受眾策略：</a:t>
            </a:r>
            <a:r>
              <a:rPr lang="zh-TW" altLang="en-US" sz="100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>對標</a:t>
            </a:r>
            <a:r>
              <a:rPr lang="en-US" altLang="zh-TW" sz="100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>NHK World</a:t>
            </a:r>
            <a:r>
              <a:rPr lang="zh-TW" altLang="en-US" sz="100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>、</a:t>
            </a:r>
            <a:r>
              <a:rPr lang="en-US" altLang="zh-TW" sz="100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>CNA</a:t>
            </a:r>
            <a:r>
              <a:rPr lang="zh-TW" altLang="en-US" sz="100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>、</a:t>
            </a:r>
            <a:r>
              <a:rPr lang="en-US" altLang="zh-TW" sz="100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>Arirang</a:t>
            </a:r>
            <a:r>
              <a:rPr lang="zh-TW" altLang="en-US" sz="100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>，發現流量規模雖小但互動品質全面領先，判定問題在受眾定位；據此鎖定約</a:t>
            </a:r>
            <a:r>
              <a:rPr lang="en-US" altLang="zh-TW" sz="100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>17.6</a:t>
            </a:r>
            <a:r>
              <a:rPr lang="zh-TW" altLang="en-US" sz="100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>萬名在台英語居民的藍海受眾，提出重新定位與通路策略。</a:t>
            </a:r>
          </a:p>
          <a:p>
            <a:pPr marL="205106" marR="0" lvl="1" indent="-102553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23B4C"/>
              </a:buClr>
              <a:buSzPts val="950"/>
              <a:buFont typeface="Arial"/>
              <a:buChar char="•"/>
            </a:pPr>
            <a:r>
              <a:rPr lang="zh-TW" altLang="en-US" sz="1000" b="1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>影音留存分析：</a:t>
            </a:r>
            <a:r>
              <a:rPr lang="zh-TW" altLang="en-US" sz="100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>從</a:t>
            </a:r>
            <a:r>
              <a:rPr lang="en-US" altLang="zh-TW" sz="100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>YouTube</a:t>
            </a:r>
            <a:r>
              <a:rPr lang="zh-TW" altLang="en-US" sz="100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>留存數據找出成長停滯的流失時間點與題材落差，調整內容與上架策略後，整體</a:t>
            </a:r>
            <a:r>
              <a:rPr lang="en-US" altLang="zh-TW" sz="100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>KPI</a:t>
            </a:r>
            <a:r>
              <a:rPr lang="zh-TW" altLang="en-US" sz="100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>提升</a:t>
            </a:r>
            <a:r>
              <a:rPr lang="en-US" altLang="zh-TW" sz="100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>50%</a:t>
            </a:r>
            <a:r>
              <a:rPr lang="zh-TW" altLang="en-US" sz="100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>。</a:t>
            </a:r>
          </a:p>
          <a:p>
            <a:pPr marL="205106" marR="0" lvl="1" indent="-102553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23B4C"/>
              </a:buClr>
              <a:buSzPts val="950"/>
              <a:buFont typeface="Arial"/>
              <a:buChar char="•"/>
            </a:pPr>
            <a:r>
              <a:rPr lang="zh-TW" altLang="en-US" sz="1000" b="1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>推薦系統與專案成效分析：</a:t>
            </a:r>
            <a:r>
              <a:rPr lang="zh-TW" altLang="en-US" sz="100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>發現官網</a:t>
            </a:r>
            <a:r>
              <a:rPr lang="zh-TW" altLang="en-US" sz="1000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>影音</a:t>
            </a:r>
            <a:r>
              <a:rPr lang="zh-TW" altLang="en-US" sz="100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>推薦系統低估高點擊類別，調整排序後觀看成長</a:t>
            </a:r>
            <a:r>
              <a:rPr lang="en-US" altLang="zh-TW" sz="100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>5%</a:t>
            </a:r>
            <a:r>
              <a:rPr lang="zh-TW" altLang="en-US" sz="100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>；與跨部門協作，分析 </a:t>
            </a:r>
            <a:r>
              <a:rPr lang="en-US" altLang="zh-TW" sz="100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>Computex 2026</a:t>
            </a:r>
            <a:r>
              <a:rPr lang="zh-TW" altLang="en-US" sz="100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>展會影音成效，觀看數上看</a:t>
            </a:r>
            <a:r>
              <a:rPr lang="en-US" altLang="zh-TW" sz="100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>110</a:t>
            </a:r>
            <a:r>
              <a:rPr lang="zh-TW" altLang="en-US" sz="100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>萬次。</a:t>
            </a:r>
          </a:p>
        </p:txBody>
      </p:sp>
      <p:sp>
        <p:nvSpPr>
          <p:cNvPr id="171" name="Google Shape;171;p1"/>
          <p:cNvSpPr txBox="1"/>
          <p:nvPr/>
        </p:nvSpPr>
        <p:spPr>
          <a:xfrm>
            <a:off x="2851996" y="6810660"/>
            <a:ext cx="433364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5901" lvl="1" indent="-107951" algn="just">
              <a:lnSpc>
                <a:spcPct val="150000"/>
              </a:lnSpc>
              <a:buClr>
                <a:srgbClr val="323B4C"/>
              </a:buClr>
              <a:buSzPts val="1000"/>
              <a:buFont typeface="Arial"/>
              <a:buChar char="•"/>
            </a:pPr>
            <a:r>
              <a:rPr lang="zh-TW" altLang="en-US" sz="1000" b="1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>流量分析與</a:t>
            </a:r>
            <a:r>
              <a:rPr lang="en-US" altLang="zh-TW" sz="1000" b="1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>AI</a:t>
            </a:r>
            <a:r>
              <a:rPr lang="zh-TW" altLang="en-US" sz="1000" b="1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>輔助選題：</a:t>
            </a:r>
            <a:r>
              <a:rPr lang="zh-TW" altLang="en-US" sz="100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>定期向跨部門主管簡報網站流量與訂閱轉換指標並提出優化建議；整合</a:t>
            </a:r>
            <a:r>
              <a:rPr lang="en-US" altLang="zh-TW" sz="100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>Google Trends API</a:t>
            </a:r>
            <a:r>
              <a:rPr lang="zh-TW" altLang="en-US" sz="100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>與</a:t>
            </a:r>
            <a:r>
              <a:rPr lang="en-US" altLang="zh-TW" sz="100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>AI</a:t>
            </a:r>
            <a:r>
              <a:rPr lang="zh-TW" altLang="en-US" sz="100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>工具建立選題輔助流程</a:t>
            </a:r>
            <a:r>
              <a:rPr lang="zh-TW" altLang="en-US" sz="1000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>。</a:t>
            </a:r>
            <a:endParaRPr lang="zh-TW" altLang="en-US" sz="1000" i="0" u="none" strike="noStrike" cap="none" dirty="0">
              <a:solidFill>
                <a:schemeClr val="tx1"/>
              </a:solidFill>
              <a:latin typeface="+mn-ea"/>
              <a:ea typeface="+mn-ea"/>
              <a:cs typeface="Lato"/>
              <a:sym typeface="Lato"/>
            </a:endParaRPr>
          </a:p>
        </p:txBody>
      </p:sp>
      <p:sp>
        <p:nvSpPr>
          <p:cNvPr id="172" name="Google Shape;172;p1"/>
          <p:cNvSpPr txBox="1"/>
          <p:nvPr/>
        </p:nvSpPr>
        <p:spPr>
          <a:xfrm>
            <a:off x="2851996" y="7780990"/>
            <a:ext cx="42948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5901" marR="0" lvl="1" indent="-107951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23B4C"/>
              </a:buClr>
              <a:buSzPts val="1000"/>
              <a:buFont typeface="Arial"/>
              <a:buChar char="•"/>
              <a:tabLst/>
              <a:defRPr/>
            </a:pPr>
            <a:r>
              <a:rPr kumimoji="0" lang="en-US" altLang="zh-TW" sz="1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/>
                <a:cs typeface="Lato"/>
                <a:sym typeface="Arial"/>
              </a:rPr>
              <a:t>數據驅動成長策略：</a:t>
            </a:r>
            <a:r>
              <a:rPr kumimoji="0" lang="en-US" altLang="zh-TW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/>
                <a:cs typeface="Lato"/>
                <a:sym typeface="Arial"/>
              </a:rPr>
              <a:t>分析用戶行為與廣告成效，在每月5-6萬元預算下透過 A/B 測試與歸因模型優化，達成月觸及人數20萬</a:t>
            </a:r>
            <a:r>
              <a:rPr lang="zh-TW" altLang="en-US" sz="1000" dirty="0">
                <a:latin typeface="微軟正黑體"/>
                <a:cs typeface="Lato"/>
              </a:rPr>
              <a:t>、</a:t>
            </a:r>
            <a:r>
              <a:rPr kumimoji="0" lang="en-US" altLang="zh-TW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/>
                <a:cs typeface="Lato"/>
                <a:sym typeface="Arial"/>
              </a:rPr>
              <a:t>IG粉絲成長40倍</a:t>
            </a:r>
            <a:r>
              <a:rPr kumimoji="0" lang="zh-TW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/>
                <a:cs typeface="Lato"/>
                <a:sym typeface="Arial"/>
              </a:rPr>
              <a:t>。</a:t>
            </a:r>
            <a:endParaRPr kumimoji="0" lang="zh-TW" altLang="zh-TW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/>
              <a:cs typeface="Lato"/>
              <a:sym typeface="Arial"/>
            </a:endParaRPr>
          </a:p>
        </p:txBody>
      </p:sp>
      <p:sp>
        <p:nvSpPr>
          <p:cNvPr id="173" name="Google Shape;173;p1"/>
          <p:cNvSpPr txBox="1"/>
          <p:nvPr/>
        </p:nvSpPr>
        <p:spPr>
          <a:xfrm>
            <a:off x="6020189" y="9403937"/>
            <a:ext cx="1052543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2013/09 - 2015/06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74" name="Google Shape;174;p1"/>
          <p:cNvSpPr txBox="1"/>
          <p:nvPr/>
        </p:nvSpPr>
        <p:spPr>
          <a:xfrm>
            <a:off x="2888563" y="9404597"/>
            <a:ext cx="3116043" cy="23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國立中央大學</a:t>
            </a:r>
            <a:endParaRPr sz="1100" b="1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1"/>
          <p:cNvSpPr txBox="1"/>
          <p:nvPr/>
        </p:nvSpPr>
        <p:spPr>
          <a:xfrm>
            <a:off x="2888563" y="9666451"/>
            <a:ext cx="3116043" cy="2306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99" b="0" i="0" u="none" strike="noStrike" cap="none" dirty="0" err="1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經濟學系|碩士畢業</a:t>
            </a:r>
            <a:endParaRPr sz="999" b="0" i="0" u="none" strike="noStrike" cap="none" dirty="0">
              <a:solidFill>
                <a:schemeClr val="tx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6" name="Google Shape;176;p1"/>
          <p:cNvSpPr txBox="1"/>
          <p:nvPr/>
        </p:nvSpPr>
        <p:spPr>
          <a:xfrm>
            <a:off x="5997227" y="10193227"/>
            <a:ext cx="1061588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2024/12 - 2025/03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77" name="Google Shape;177;p1"/>
          <p:cNvSpPr txBox="1"/>
          <p:nvPr/>
        </p:nvSpPr>
        <p:spPr>
          <a:xfrm>
            <a:off x="2948249" y="9846230"/>
            <a:ext cx="4202609" cy="5538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71450" marR="0" lvl="0" indent="-171450" algn="l" rtl="0">
              <a:lnSpc>
                <a:spcPct val="15005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999" b="1" i="0" u="none" strike="noStrike" cap="none" dirty="0">
                <a:solidFill>
                  <a:schemeClr val="tx1"/>
                </a:solidFill>
                <a:latin typeface="+mn-lt"/>
                <a:ea typeface="微軟正黑體" panose="020B0604030504040204" pitchFamily="34" charset="-120"/>
                <a:sym typeface="Arial"/>
              </a:rPr>
              <a:t>GPA:</a:t>
            </a:r>
            <a:r>
              <a:rPr lang="en-US" sz="999" b="0" i="0" u="none" strike="noStrike" cap="none" dirty="0">
                <a:solidFill>
                  <a:schemeClr val="tx1"/>
                </a:solidFill>
                <a:latin typeface="+mn-lt"/>
                <a:ea typeface="微軟正黑體" panose="020B0604030504040204" pitchFamily="34" charset="-120"/>
                <a:sym typeface="Arial"/>
              </a:rPr>
              <a:t> 3.87 / 4.0</a:t>
            </a:r>
            <a:r>
              <a:rPr lang="en-US" dirty="0">
                <a:solidFill>
                  <a:schemeClr val="tx1"/>
                </a:solidFill>
                <a:latin typeface="+mn-lt"/>
                <a:ea typeface="微軟正黑體" panose="020B0604030504040204" pitchFamily="34" charset="-120"/>
              </a:rPr>
              <a:t>; </a:t>
            </a:r>
            <a:r>
              <a:rPr lang="en-US" sz="999" b="0" i="0" u="none" strike="noStrike" cap="none" dirty="0" err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Lato"/>
                <a:sym typeface="Lato"/>
              </a:rPr>
              <a:t>碩士論文獲得台灣經濟學會最佳碩士論文獎甄選佳作</a:t>
            </a:r>
            <a:endParaRPr sz="999" b="0" i="0" u="none" strike="noStrike" cap="none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Lato"/>
              <a:sym typeface="Lato"/>
            </a:endParaRPr>
          </a:p>
          <a:p>
            <a:pPr marL="0" marR="0" lvl="0" indent="0" algn="l" rtl="0">
              <a:lnSpc>
                <a:spcPct val="15005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99" b="0" i="0" u="none" strike="noStrike" cap="none" dirty="0">
              <a:solidFill>
                <a:schemeClr val="tx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9" name="Google Shape;179;p1"/>
          <p:cNvSpPr txBox="1"/>
          <p:nvPr/>
        </p:nvSpPr>
        <p:spPr>
          <a:xfrm>
            <a:off x="2896758" y="10187045"/>
            <a:ext cx="3138354" cy="490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100" b="1" i="0" u="none" strike="noStrike" cap="none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緯育Tibame</a:t>
            </a:r>
            <a:r>
              <a:rPr lang="zh-TW" altLang="en-US" sz="1100" b="1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zh-TW" altLang="en-US" sz="11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Lato"/>
                <a:sym typeface="Lato"/>
              </a:rPr>
              <a:t>資料工程師養成班</a:t>
            </a:r>
            <a:r>
              <a:rPr lang="en-US" altLang="zh-TW" sz="11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Lato"/>
                <a:sym typeface="Lato"/>
              </a:rPr>
              <a:t>|</a:t>
            </a:r>
            <a:r>
              <a:rPr lang="zh-TW" altLang="en-US" sz="11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Lato"/>
                <a:sym typeface="Lato"/>
              </a:rPr>
              <a:t>畢業</a:t>
            </a: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b="1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A902D453-4C0D-B30C-2158-5B0E214FDD4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68007" y="549892"/>
            <a:ext cx="845209" cy="845209"/>
          </a:xfrm>
          <a:prstGeom prst="rect">
            <a:avLst/>
          </a:prstGeom>
        </p:spPr>
      </p:pic>
      <p:grpSp>
        <p:nvGrpSpPr>
          <p:cNvPr id="10" name="Google Shape;142;p1">
            <a:extLst>
              <a:ext uri="{FF2B5EF4-FFF2-40B4-BE49-F238E27FC236}">
                <a16:creationId xmlns:a16="http://schemas.microsoft.com/office/drawing/2014/main" id="{A8CE9069-BFD1-D897-265B-6B53786C6E34}"/>
              </a:ext>
            </a:extLst>
          </p:cNvPr>
          <p:cNvGrpSpPr/>
          <p:nvPr/>
        </p:nvGrpSpPr>
        <p:grpSpPr>
          <a:xfrm>
            <a:off x="2646603" y="8376631"/>
            <a:ext cx="74965" cy="74965"/>
            <a:chOff x="0" y="0"/>
            <a:chExt cx="812800" cy="812800"/>
          </a:xfrm>
        </p:grpSpPr>
        <p:sp>
          <p:nvSpPr>
            <p:cNvPr id="11" name="Google Shape;143;p1">
              <a:extLst>
                <a:ext uri="{FF2B5EF4-FFF2-40B4-BE49-F238E27FC236}">
                  <a16:creationId xmlns:a16="http://schemas.microsoft.com/office/drawing/2014/main" id="{594C7DDE-80E1-7F45-5D27-582BCDF412EA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FDFD"/>
            </a:solidFill>
            <a:ln w="9525" cap="sq" cmpd="sng">
              <a:solidFill>
                <a:srgbClr val="323B4C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/>
                </a:solidFill>
              </a:endParaRPr>
            </a:p>
          </p:txBody>
        </p:sp>
        <p:sp>
          <p:nvSpPr>
            <p:cNvPr id="12" name="Google Shape;144;p1">
              <a:extLst>
                <a:ext uri="{FF2B5EF4-FFF2-40B4-BE49-F238E27FC236}">
                  <a16:creationId xmlns:a16="http://schemas.microsoft.com/office/drawing/2014/main" id="{4CF03ED5-D155-CB1A-345C-B33963B1BC51}"/>
                </a:ext>
              </a:extLst>
            </p:cNvPr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7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" name="Google Shape;168;p1">
            <a:extLst>
              <a:ext uri="{FF2B5EF4-FFF2-40B4-BE49-F238E27FC236}">
                <a16:creationId xmlns:a16="http://schemas.microsoft.com/office/drawing/2014/main" id="{9C8F503B-23CF-A528-6E07-E8BF3E691DDD}"/>
              </a:ext>
            </a:extLst>
          </p:cNvPr>
          <p:cNvSpPr txBox="1"/>
          <p:nvPr/>
        </p:nvSpPr>
        <p:spPr>
          <a:xfrm>
            <a:off x="2941518" y="8295620"/>
            <a:ext cx="1946100" cy="23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1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中央研究院人文社會研究中心</a:t>
            </a:r>
            <a:endParaRPr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7" name="Google Shape;169;p1">
            <a:extLst>
              <a:ext uri="{FF2B5EF4-FFF2-40B4-BE49-F238E27FC236}">
                <a16:creationId xmlns:a16="http://schemas.microsoft.com/office/drawing/2014/main" id="{94AEEDF7-55C6-1B46-07B7-FD266DF23E77}"/>
              </a:ext>
            </a:extLst>
          </p:cNvPr>
          <p:cNvSpPr txBox="1"/>
          <p:nvPr/>
        </p:nvSpPr>
        <p:spPr>
          <a:xfrm>
            <a:off x="2941518" y="8500743"/>
            <a:ext cx="222870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000" b="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Arial"/>
                <a:sym typeface="Arial"/>
              </a:rPr>
              <a:t>研究助理</a:t>
            </a:r>
            <a:r>
              <a:rPr lang="en-US" sz="1000" b="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Arial"/>
                <a:sym typeface="Arial"/>
              </a:rPr>
              <a:t> </a:t>
            </a:r>
            <a:endParaRPr sz="10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9" name="Google Shape;172;p1">
            <a:extLst>
              <a:ext uri="{FF2B5EF4-FFF2-40B4-BE49-F238E27FC236}">
                <a16:creationId xmlns:a16="http://schemas.microsoft.com/office/drawing/2014/main" id="{0F80D75F-4BAF-2772-8E14-0E294B976FD0}"/>
              </a:ext>
            </a:extLst>
          </p:cNvPr>
          <p:cNvSpPr txBox="1"/>
          <p:nvPr/>
        </p:nvSpPr>
        <p:spPr>
          <a:xfrm>
            <a:off x="2851996" y="8723314"/>
            <a:ext cx="4294800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5901" marR="0" lvl="1" indent="-107951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23B4C"/>
              </a:buClr>
              <a:buSzPts val="1000"/>
              <a:buFont typeface="Arial"/>
              <a:buChar char="•"/>
              <a:tabLst/>
              <a:defRPr/>
            </a:pPr>
            <a:r>
              <a:rPr kumimoji="0" lang="zh-TW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Lato"/>
                <a:sym typeface="Arial"/>
              </a:rPr>
              <a:t>透過</a:t>
            </a:r>
            <a:r>
              <a:rPr kumimoji="0" lang="en-US" altLang="zh-TW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Lato"/>
                <a:sym typeface="Arial"/>
              </a:rPr>
              <a:t>SQL</a:t>
            </a:r>
            <a:r>
              <a:rPr kumimoji="0" lang="zh-TW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Lato"/>
                <a:sym typeface="Arial"/>
              </a:rPr>
              <a:t>做資料清理，將複雜資料轉換成清晰結構，供教授做學術研究。</a:t>
            </a:r>
            <a:endParaRPr kumimoji="0" lang="zh-TW" altLang="zh-TW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ea typeface="+mn-ea"/>
              <a:cs typeface="Lato"/>
              <a:sym typeface="Arial"/>
            </a:endParaRPr>
          </a:p>
        </p:txBody>
      </p:sp>
      <p:sp>
        <p:nvSpPr>
          <p:cNvPr id="21" name="Google Shape;167;p1">
            <a:extLst>
              <a:ext uri="{FF2B5EF4-FFF2-40B4-BE49-F238E27FC236}">
                <a16:creationId xmlns:a16="http://schemas.microsoft.com/office/drawing/2014/main" id="{66DC682D-40F7-4CE0-9756-D267DF0ECD00}"/>
              </a:ext>
            </a:extLst>
          </p:cNvPr>
          <p:cNvSpPr txBox="1"/>
          <p:nvPr/>
        </p:nvSpPr>
        <p:spPr>
          <a:xfrm>
            <a:off x="5922529" y="8295620"/>
            <a:ext cx="119910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2018/03 - 2018/10</a:t>
            </a:r>
            <a:endParaRPr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訂 1">
      <a:majorFont>
        <a:latin typeface="Arial"/>
        <a:ea typeface="微軟正黑體"/>
        <a:cs typeface=""/>
      </a:majorFont>
      <a:minorFont>
        <a:latin typeface="Arial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876</TotalTime>
  <Words>517</Words>
  <Application>Microsoft Office PowerPoint</Application>
  <PresentationFormat>自訂</PresentationFormat>
  <Paragraphs>46</Paragraphs>
  <Slides>1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6" baseType="lpstr">
      <vt:lpstr>Lato</vt:lpstr>
      <vt:lpstr>Calibri</vt:lpstr>
      <vt:lpstr>微軟正黑體</vt:lpstr>
      <vt:lpstr>Arial</vt:lpstr>
      <vt:lpstr>Office Theme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Shangwei Yang</dc:creator>
  <cp:lastModifiedBy>Shangwei Yang</cp:lastModifiedBy>
  <cp:revision>24</cp:revision>
  <dcterms:created xsi:type="dcterms:W3CDTF">2006-08-16T00:00:00Z</dcterms:created>
  <dcterms:modified xsi:type="dcterms:W3CDTF">2026-08-25T16:14:44Z</dcterms:modified>
</cp:coreProperties>
</file>