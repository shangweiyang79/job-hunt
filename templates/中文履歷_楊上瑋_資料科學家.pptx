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Lato" panose="020F0502020204030203" pitchFamily="34" charset="0"/>
      <p:regular r:id="rId4"/>
    </p:embeddedFont>
    <p:embeddedFont>
      <p:font typeface="微軟正黑體" panose="020B0604030504040204" pitchFamily="34" charset="-12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ZQxAXodj4zauHU0DPgS739uw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2" d="100"/>
          <a:sy n="122" d="100"/>
        </p:scale>
        <p:origin x="854" y="-29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4211" y="1299506"/>
            <a:ext cx="2334679" cy="9383129"/>
            <a:chOff x="0" y="-47625"/>
            <a:chExt cx="836696" cy="343119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36696" cy="3383571"/>
            </a:xfrm>
            <a:custGeom>
              <a:avLst/>
              <a:gdLst/>
              <a:ahLst/>
              <a:cxnLst/>
              <a:rect l="l" t="t" r="r" b="b"/>
              <a:pathLst>
                <a:path w="836696" h="3383571" extrusionOk="0">
                  <a:moveTo>
                    <a:pt x="0" y="0"/>
                  </a:moveTo>
                  <a:lnTo>
                    <a:pt x="836696" y="0"/>
                  </a:lnTo>
                  <a:lnTo>
                    <a:pt x="836696" y="3383571"/>
                  </a:lnTo>
                  <a:lnTo>
                    <a:pt x="0" y="3383571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836696" cy="343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-132891"/>
            <a:ext cx="7560000" cy="1802828"/>
            <a:chOff x="0" y="-47625"/>
            <a:chExt cx="2709333" cy="688611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709333" cy="640986"/>
            </a:xfrm>
            <a:custGeom>
              <a:avLst/>
              <a:gdLst/>
              <a:ahLst/>
              <a:cxnLst/>
              <a:rect l="l" t="t" r="r" b="b"/>
              <a:pathLst>
                <a:path w="2709333" h="640986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640986"/>
                  </a:lnTo>
                  <a:lnTo>
                    <a:pt x="0" y="640986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2709333" cy="688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75544" y="756000"/>
            <a:ext cx="1789228" cy="1789228"/>
            <a:chOff x="0" y="0"/>
            <a:chExt cx="2385638" cy="2385638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0" y="0"/>
              <a:ext cx="2385638" cy="2385638"/>
              <a:chOff x="0" y="0"/>
              <a:chExt cx="812800" cy="812800"/>
            </a:xfrm>
          </p:grpSpPr>
          <p:sp>
            <p:nvSpPr>
              <p:cNvPr id="92" name="Google Shape;92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Google Shape;93;p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1"/>
            <p:cNvSpPr/>
            <p:nvPr/>
          </p:nvSpPr>
          <p:spPr>
            <a:xfrm>
              <a:off x="63440" y="63440"/>
              <a:ext cx="2258759" cy="2258759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4416" b="-29078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253291" y="4854333"/>
            <a:ext cx="1889328" cy="302679"/>
            <a:chOff x="-100691" y="-28575"/>
            <a:chExt cx="2519104" cy="403572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-100691" y="-28575"/>
              <a:ext cx="2511731" cy="402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4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技能</a:t>
              </a:r>
              <a:endParaRPr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259235" y="2942541"/>
            <a:ext cx="1816209" cy="301621"/>
            <a:chOff x="0" y="-28575"/>
            <a:chExt cx="2421613" cy="402161"/>
          </a:xfrm>
        </p:grpSpPr>
        <p:sp>
          <p:nvSpPr>
            <p:cNvPr id="99" name="Google Shape;99;p1"/>
            <p:cNvSpPr/>
            <p:nvPr/>
          </p:nvSpPr>
          <p:spPr>
            <a:xfrm>
              <a:off x="10573" y="346642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28575"/>
              <a:ext cx="1930498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聯絡資訊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226223" y="7151164"/>
            <a:ext cx="1813810" cy="302680"/>
            <a:chOff x="0" y="-28575"/>
            <a:chExt cx="2418413" cy="403572"/>
          </a:xfrm>
        </p:grpSpPr>
        <p:sp>
          <p:nvSpPr>
            <p:cNvPr id="105" name="Google Shape;105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28575"/>
              <a:ext cx="2411040" cy="402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語言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265820" y="3310509"/>
            <a:ext cx="1807225" cy="215444"/>
            <a:chOff x="0" y="-28575"/>
            <a:chExt cx="2409633" cy="287259"/>
          </a:xfrm>
        </p:grpSpPr>
        <p:sp>
          <p:nvSpPr>
            <p:cNvPr id="108" name="Google Shape;108;p1"/>
            <p:cNvSpPr/>
            <p:nvPr/>
          </p:nvSpPr>
          <p:spPr>
            <a:xfrm>
              <a:off x="0" y="13408"/>
              <a:ext cx="166947" cy="181325"/>
            </a:xfrm>
            <a:custGeom>
              <a:avLst/>
              <a:gdLst/>
              <a:ahLst/>
              <a:cxnLst/>
              <a:rect l="l" t="t" r="r" b="b"/>
              <a:pathLst>
                <a:path w="166947" h="181325" extrusionOk="0">
                  <a:moveTo>
                    <a:pt x="0" y="0"/>
                  </a:moveTo>
                  <a:lnTo>
                    <a:pt x="166947" y="0"/>
                  </a:lnTo>
                  <a:lnTo>
                    <a:pt x="166947" y="181325"/>
                  </a:lnTo>
                  <a:lnTo>
                    <a:pt x="0" y="181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2951" b="-13202"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306395" y="-28575"/>
              <a:ext cx="2103238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+886-988285769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265820" y="3643359"/>
            <a:ext cx="2027707" cy="215252"/>
            <a:chOff x="0" y="-19050"/>
            <a:chExt cx="2703609" cy="287001"/>
          </a:xfrm>
        </p:grpSpPr>
        <p:sp>
          <p:nvSpPr>
            <p:cNvPr id="111" name="Google Shape;111;p1"/>
            <p:cNvSpPr/>
            <p:nvPr/>
          </p:nvSpPr>
          <p:spPr>
            <a:xfrm>
              <a:off x="0" y="39835"/>
              <a:ext cx="193576" cy="138821"/>
            </a:xfrm>
            <a:custGeom>
              <a:avLst/>
              <a:gdLst/>
              <a:ahLst/>
              <a:cxnLst/>
              <a:rect l="l" t="t" r="r" b="b"/>
              <a:pathLst>
                <a:path w="193576" h="138821" extrusionOk="0">
                  <a:moveTo>
                    <a:pt x="0" y="0"/>
                  </a:moveTo>
                  <a:lnTo>
                    <a:pt x="193576" y="0"/>
                  </a:lnTo>
                  <a:lnTo>
                    <a:pt x="193576" y="138821"/>
                  </a:lnTo>
                  <a:lnTo>
                    <a:pt x="0" y="1388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343775" y="-19050"/>
              <a:ext cx="2359834" cy="28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shangweiyang79@gmail.com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275543" y="4019526"/>
            <a:ext cx="1973211" cy="347531"/>
            <a:chOff x="0" y="0"/>
            <a:chExt cx="2396667" cy="463374"/>
          </a:xfrm>
        </p:grpSpPr>
        <p:sp>
          <p:nvSpPr>
            <p:cNvPr id="114" name="Google Shape;114;p1"/>
            <p:cNvSpPr/>
            <p:nvPr/>
          </p:nvSpPr>
          <p:spPr>
            <a:xfrm>
              <a:off x="0" y="0"/>
              <a:ext cx="141016" cy="216358"/>
            </a:xfrm>
            <a:custGeom>
              <a:avLst/>
              <a:gdLst/>
              <a:ahLst/>
              <a:cxnLst/>
              <a:rect l="l" t="t" r="r" b="b"/>
              <a:pathLst>
                <a:path w="141016" h="216358" extrusionOk="0">
                  <a:moveTo>
                    <a:pt x="0" y="0"/>
                  </a:moveTo>
                  <a:lnTo>
                    <a:pt x="141016" y="0"/>
                  </a:lnTo>
                  <a:lnTo>
                    <a:pt x="141016" y="216358"/>
                  </a:lnTo>
                  <a:lnTo>
                    <a:pt x="0" y="216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300801" y="0"/>
              <a:ext cx="2095866" cy="46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3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235 新北市中和區景新街274巷1號5F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253291" y="4386370"/>
            <a:ext cx="1811410" cy="387798"/>
            <a:chOff x="0" y="-28575"/>
            <a:chExt cx="2415214" cy="517064"/>
          </a:xfrm>
        </p:grpSpPr>
        <p:sp>
          <p:nvSpPr>
            <p:cNvPr id="117" name="Google Shape;117;p1"/>
            <p:cNvSpPr/>
            <p:nvPr/>
          </p:nvSpPr>
          <p:spPr>
            <a:xfrm>
              <a:off x="0" y="15563"/>
              <a:ext cx="172527" cy="170645"/>
            </a:xfrm>
            <a:custGeom>
              <a:avLst/>
              <a:gdLst/>
              <a:ahLst/>
              <a:cxnLst/>
              <a:rect l="l" t="t" r="r" b="b"/>
              <a:pathLst>
                <a:path w="172527" h="170645" extrusionOk="0">
                  <a:moveTo>
                    <a:pt x="0" y="0"/>
                  </a:moveTo>
                  <a:lnTo>
                    <a:pt x="172527" y="0"/>
                  </a:lnTo>
                  <a:lnTo>
                    <a:pt x="172527" y="170645"/>
                  </a:lnTo>
                  <a:lnTo>
                    <a:pt x="0" y="170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318732" y="-28575"/>
              <a:ext cx="2096482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https://www.linkedin.com/in/shang-wei-yang-670b9091/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Google Shape;119;p1"/>
          <p:cNvSpPr/>
          <p:nvPr/>
        </p:nvSpPr>
        <p:spPr>
          <a:xfrm>
            <a:off x="2917011" y="3711034"/>
            <a:ext cx="4168586" cy="10765"/>
          </a:xfrm>
          <a:custGeom>
            <a:avLst/>
            <a:gdLst/>
            <a:ahLst/>
            <a:cxnLst/>
            <a:rect l="l" t="t" r="r" b="b"/>
            <a:pathLst>
              <a:path w="27047934" h="69850" extrusionOk="0">
                <a:moveTo>
                  <a:pt x="26757105" y="0"/>
                </a:moveTo>
                <a:lnTo>
                  <a:pt x="0" y="0"/>
                </a:lnTo>
                <a:lnTo>
                  <a:pt x="0" y="69850"/>
                </a:lnTo>
                <a:lnTo>
                  <a:pt x="27047934" y="69850"/>
                </a:lnTo>
                <a:lnTo>
                  <a:pt x="27047934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908867" y="9310566"/>
            <a:ext cx="4195489" cy="10765"/>
          </a:xfrm>
          <a:custGeom>
            <a:avLst/>
            <a:gdLst/>
            <a:ahLst/>
            <a:cxnLst/>
            <a:rect l="l" t="t" r="r" b="b"/>
            <a:pathLst>
              <a:path w="27222487" h="69850" extrusionOk="0">
                <a:moveTo>
                  <a:pt x="26931658" y="0"/>
                </a:moveTo>
                <a:lnTo>
                  <a:pt x="0" y="0"/>
                </a:lnTo>
                <a:lnTo>
                  <a:pt x="0" y="69850"/>
                </a:lnTo>
                <a:lnTo>
                  <a:pt x="27222487" y="69850"/>
                </a:lnTo>
                <a:lnTo>
                  <a:pt x="27222487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2891447" y="2014950"/>
            <a:ext cx="4177631" cy="10765"/>
          </a:xfrm>
          <a:custGeom>
            <a:avLst/>
            <a:gdLst/>
            <a:ahLst/>
            <a:cxnLst/>
            <a:rect l="l" t="t" r="r" b="b"/>
            <a:pathLst>
              <a:path w="27106621" h="69850" extrusionOk="0">
                <a:moveTo>
                  <a:pt x="26815790" y="0"/>
                </a:moveTo>
                <a:lnTo>
                  <a:pt x="0" y="0"/>
                </a:lnTo>
                <a:lnTo>
                  <a:pt x="0" y="69850"/>
                </a:lnTo>
                <a:lnTo>
                  <a:pt x="27106621" y="69850"/>
                </a:lnTo>
                <a:lnTo>
                  <a:pt x="27106621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2513575" y="1762068"/>
            <a:ext cx="256129" cy="256129"/>
            <a:chOff x="0" y="0"/>
            <a:chExt cx="812800" cy="812800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556022" y="9017201"/>
            <a:ext cx="256129" cy="256129"/>
            <a:chOff x="0" y="0"/>
            <a:chExt cx="812800" cy="812800"/>
          </a:xfrm>
        </p:grpSpPr>
        <p:sp>
          <p:nvSpPr>
            <p:cNvPr id="126" name="Google Shape;126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7" name="Google Shape;127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"/>
          <p:cNvSpPr/>
          <p:nvPr/>
        </p:nvSpPr>
        <p:spPr>
          <a:xfrm>
            <a:off x="2591377" y="2321489"/>
            <a:ext cx="117628" cy="137358"/>
          </a:xfrm>
          <a:custGeom>
            <a:avLst/>
            <a:gdLst/>
            <a:ahLst/>
            <a:cxnLst/>
            <a:rect l="l" t="t" r="r" b="b"/>
            <a:pathLst>
              <a:path w="117628" h="137358" extrusionOk="0">
                <a:moveTo>
                  <a:pt x="0" y="0"/>
                </a:moveTo>
                <a:lnTo>
                  <a:pt x="117628" y="0"/>
                </a:lnTo>
                <a:lnTo>
                  <a:pt x="117628" y="137358"/>
                </a:lnTo>
                <a:lnTo>
                  <a:pt x="0" y="137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2556022" y="3434040"/>
            <a:ext cx="256129" cy="256129"/>
          </a:xfrm>
          <a:custGeom>
            <a:avLst/>
            <a:gdLst/>
            <a:ahLst/>
            <a:cxnLst/>
            <a:rect l="l" t="t" r="r" b="b"/>
            <a:pathLst>
              <a:path w="256129" h="256129" extrusionOk="0">
                <a:moveTo>
                  <a:pt x="0" y="0"/>
                </a:moveTo>
                <a:lnTo>
                  <a:pt x="256130" y="0"/>
                </a:lnTo>
                <a:lnTo>
                  <a:pt x="256130" y="256130"/>
                </a:lnTo>
                <a:lnTo>
                  <a:pt x="0" y="25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2610223" y="9080687"/>
            <a:ext cx="178956" cy="123967"/>
          </a:xfrm>
          <a:custGeom>
            <a:avLst/>
            <a:gdLst/>
            <a:ahLst/>
            <a:cxnLst/>
            <a:rect l="l" t="t" r="r" b="b"/>
            <a:pathLst>
              <a:path w="178956" h="123967" extrusionOk="0">
                <a:moveTo>
                  <a:pt x="0" y="0"/>
                </a:moveTo>
                <a:lnTo>
                  <a:pt x="178955" y="0"/>
                </a:lnTo>
                <a:lnTo>
                  <a:pt x="178955" y="123968"/>
                </a:lnTo>
                <a:lnTo>
                  <a:pt x="0" y="123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31" name="Google Shape;131;p1"/>
          <p:cNvCxnSpPr>
            <a:cxnSpLocks/>
          </p:cNvCxnSpPr>
          <p:nvPr/>
        </p:nvCxnSpPr>
        <p:spPr>
          <a:xfrm>
            <a:off x="2672757" y="2110328"/>
            <a:ext cx="0" cy="1231668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1"/>
          <p:cNvCxnSpPr>
            <a:cxnSpLocks/>
          </p:cNvCxnSpPr>
          <p:nvPr/>
        </p:nvCxnSpPr>
        <p:spPr>
          <a:xfrm flipH="1">
            <a:off x="2684085" y="3735646"/>
            <a:ext cx="1" cy="5158047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6" name="Google Shape;136;p1"/>
          <p:cNvGrpSpPr/>
          <p:nvPr/>
        </p:nvGrpSpPr>
        <p:grpSpPr>
          <a:xfrm>
            <a:off x="2650830" y="3842759"/>
            <a:ext cx="74965" cy="74965"/>
            <a:chOff x="0" y="0"/>
            <a:chExt cx="812800" cy="812800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8" name="Google Shape;13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2639789" y="6389214"/>
            <a:ext cx="74965" cy="74965"/>
            <a:chOff x="0" y="0"/>
            <a:chExt cx="812800" cy="812800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1" name="Google Shape;14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2639789" y="7392374"/>
            <a:ext cx="74965" cy="74965"/>
            <a:chOff x="0" y="0"/>
            <a:chExt cx="812800" cy="812800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4" name="Google Shape;14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" name="Google Shape;145;p1"/>
          <p:cNvCxnSpPr>
            <a:cxnSpLocks/>
          </p:cNvCxnSpPr>
          <p:nvPr/>
        </p:nvCxnSpPr>
        <p:spPr>
          <a:xfrm flipH="1">
            <a:off x="2684085" y="9251683"/>
            <a:ext cx="195" cy="1320523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6" name="Google Shape;146;p1"/>
          <p:cNvGrpSpPr/>
          <p:nvPr/>
        </p:nvGrpSpPr>
        <p:grpSpPr>
          <a:xfrm>
            <a:off x="2653631" y="10257284"/>
            <a:ext cx="74965" cy="74965"/>
            <a:chOff x="0" y="0"/>
            <a:chExt cx="812800" cy="812800"/>
          </a:xfrm>
        </p:grpSpPr>
        <p:sp>
          <p:nvSpPr>
            <p:cNvPr id="147" name="Google Shape;14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8" name="Google Shape;14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"/>
          <p:cNvGrpSpPr/>
          <p:nvPr/>
        </p:nvGrpSpPr>
        <p:grpSpPr>
          <a:xfrm>
            <a:off x="2646603" y="9471509"/>
            <a:ext cx="74965" cy="74965"/>
            <a:chOff x="0" y="0"/>
            <a:chExt cx="812800" cy="812800"/>
          </a:xfrm>
        </p:grpSpPr>
        <p:sp>
          <p:nvSpPr>
            <p:cNvPr id="150" name="Google Shape;15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51" name="Google Shape;15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"/>
          <p:cNvSpPr/>
          <p:nvPr/>
        </p:nvSpPr>
        <p:spPr>
          <a:xfrm>
            <a:off x="2560379" y="1795772"/>
            <a:ext cx="163567" cy="163567"/>
          </a:xfrm>
          <a:custGeom>
            <a:avLst/>
            <a:gdLst/>
            <a:ahLst/>
            <a:cxnLst/>
            <a:rect l="l" t="t" r="r" b="b"/>
            <a:pathLst>
              <a:path w="163567" h="163567" extrusionOk="0">
                <a:moveTo>
                  <a:pt x="0" y="0"/>
                </a:moveTo>
                <a:lnTo>
                  <a:pt x="163567" y="0"/>
                </a:lnTo>
                <a:lnTo>
                  <a:pt x="163567" y="163567"/>
                </a:lnTo>
                <a:lnTo>
                  <a:pt x="0" y="163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68329" y="5218184"/>
            <a:ext cx="221910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>
              <a:lnSpc>
                <a:spcPct val="20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機器學習: Scikit-learn, DistilBERT, LLM評測</a:t>
            </a:r>
            <a:r>
              <a:rPr lang="en-US" altLang="zh-TW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lang="en-US"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程式語言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Python, SQL, ETL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雲端平台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GCP (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BigQuery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), AWS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AI: RAG </a:t>
            </a: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架構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Agentic AI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其他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Docker, Git, 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專案管理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5850" y="7550734"/>
            <a:ext cx="1889327" cy="69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中文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母語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英文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TOEIC 925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日文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JLPT N1 163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917011" y="591253"/>
            <a:ext cx="4187345" cy="4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2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楊上瑋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 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  <a:sym typeface="Arial"/>
              </a:rPr>
              <a:t>JOY YANG</a:t>
            </a:r>
            <a:endParaRPr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2941518" y="1117049"/>
            <a:ext cx="419548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資料科學家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endParaRPr b="1" i="0" u="none" strike="noStrike" cap="non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901746" y="3385189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工作經歷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894700" y="8981416"/>
            <a:ext cx="419994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教育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2917011" y="1697263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個人簡介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2851996" y="2142766"/>
            <a:ext cx="4437339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8年跨媒體、新聞與藝術產業數據經驗，近年聚焦機器學習與LLM應用：DistilBERT+Gemini新聞分類（處理資料洩漏與標籤清洗，macro-F1 0.81）、內部RAG助理與8項決定性檢核評測層、推薦排序分析使觀看成長5%。經濟學碩士，已通過iPAS AI應用規劃師中級，中英日三語。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5740953" y="3776805"/>
            <a:ext cx="1179676" cy="21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2025/05 -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至今</a:t>
            </a:r>
            <a:endParaRPr sz="99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2885926" y="3723300"/>
            <a:ext cx="1957265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TaiwanPlus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888563" y="3970146"/>
            <a:ext cx="24836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873107" y="6349764"/>
            <a:ext cx="1263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2025/04 - 2025/05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908867" y="6331300"/>
            <a:ext cx="22287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聯合報系</a:t>
            </a:r>
            <a:endParaRPr sz="1100" b="1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927066" y="6557274"/>
            <a:ext cx="2423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922529" y="7317341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2018/11 - 2024/03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2927066" y="7313416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紅野畫廊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2941518" y="7532785"/>
            <a:ext cx="2228700" cy="23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藝廊經理</a:t>
            </a:r>
            <a:r>
              <a:rPr lang="en-US" sz="10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809776" y="4199671"/>
            <a:ext cx="4479557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新聞分類模型：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DistilBERT+Gemini信心度級聯，處理資料洩漏與標籤清洗，準確率與macro-F1皆0.81。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RAG助理與評測：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BigQuery→Vertex AI Search→Gemini，部署於Cloud Run，8項決定性檢核驗證引用與數字，檢索效率提升30%。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影音留存分析：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從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YouTube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留存數據找出成長停滯的流失時間點與題材落差，調整內容與上架策略後，整體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KPI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提升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50%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推薦系統與專案成效分析：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發現官網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推薦系統低估高點擊類別，調整排序後觀看成長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；與跨部門協作，分析 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Computex 2026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展會影音成效，觀看數上看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110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萬次。</a:t>
            </a:r>
          </a:p>
        </p:txBody>
      </p:sp>
      <p:sp>
        <p:nvSpPr>
          <p:cNvPr id="171" name="Google Shape;171;p1"/>
          <p:cNvSpPr txBox="1"/>
          <p:nvPr/>
        </p:nvSpPr>
        <p:spPr>
          <a:xfrm>
            <a:off x="2851996" y="6810660"/>
            <a:ext cx="43336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 algn="just">
              <a:lnSpc>
                <a:spcPct val="15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流量分析與</a:t>
            </a:r>
            <a:r>
              <a:rPr lang="en-US" altLang="zh-TW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輔助選題：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定期向跨部門主管簡報網站流量與訂閱轉換指標並提出優化建議；整合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Google Trends API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工具建立選題輔助流程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  <a:endParaRPr lang="zh-TW" altLang="en-US" sz="100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2851996" y="7780990"/>
            <a:ext cx="4294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數據驅動成長策略：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分析用戶行為與廣告成效，在每月5-6萬元預算下透過 A/B 測試與歸因模型優化，達成月觸及人數20萬</a:t>
            </a:r>
            <a:r>
              <a:rPr lang="zh-TW" altLang="en-US" sz="1000" dirty="0">
                <a:latin typeface="微軟正黑體"/>
                <a:cs typeface="Lato"/>
              </a:rPr>
              <a:t>、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IG粉絲成長40倍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/>
              <a:cs typeface="Lato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6020189" y="9403937"/>
            <a:ext cx="105254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2013/09 - 2015/06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2888563" y="9404597"/>
            <a:ext cx="3116043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國立中央大學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888563" y="9666451"/>
            <a:ext cx="3116043" cy="23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經濟學系|碩士畢業</a:t>
            </a: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997227" y="10193227"/>
            <a:ext cx="10615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2024/12 - 2025/03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2948249" y="9846230"/>
            <a:ext cx="4202609" cy="55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99" b="1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GPA: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 3.87 / 4.0</a:t>
            </a:r>
            <a:r>
              <a:rPr lang="en-US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;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碩士論文獲得台灣經濟學會最佳碩士論文獎甄選佳作</a:t>
            </a:r>
            <a:endParaRPr sz="999" b="0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ato"/>
              <a:sym typeface="Lato"/>
            </a:endParaRPr>
          </a:p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896758" y="10187045"/>
            <a:ext cx="3138354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緯育Tibame</a:t>
            </a:r>
            <a:r>
              <a:rPr lang="zh-TW" alt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資料工程師養成班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|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畢業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02D453-4C0D-B30C-2158-5B0E214FD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8007" y="549892"/>
            <a:ext cx="845209" cy="845209"/>
          </a:xfrm>
          <a:prstGeom prst="rect">
            <a:avLst/>
          </a:prstGeom>
        </p:spPr>
      </p:pic>
      <p:grpSp>
        <p:nvGrpSpPr>
          <p:cNvPr id="10" name="Google Shape;142;p1">
            <a:extLst>
              <a:ext uri="{FF2B5EF4-FFF2-40B4-BE49-F238E27FC236}">
                <a16:creationId xmlns:a16="http://schemas.microsoft.com/office/drawing/2014/main" id="{A8CE9069-BFD1-D897-265B-6B53786C6E34}"/>
              </a:ext>
            </a:extLst>
          </p:cNvPr>
          <p:cNvGrpSpPr/>
          <p:nvPr/>
        </p:nvGrpSpPr>
        <p:grpSpPr>
          <a:xfrm>
            <a:off x="2646603" y="8376631"/>
            <a:ext cx="74965" cy="74965"/>
            <a:chOff x="0" y="0"/>
            <a:chExt cx="812800" cy="812800"/>
          </a:xfrm>
        </p:grpSpPr>
        <p:sp>
          <p:nvSpPr>
            <p:cNvPr id="11" name="Google Shape;143;p1">
              <a:extLst>
                <a:ext uri="{FF2B5EF4-FFF2-40B4-BE49-F238E27FC236}">
                  <a16:creationId xmlns:a16="http://schemas.microsoft.com/office/drawing/2014/main" id="{594C7DDE-80E1-7F45-5D27-582BCDF412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Google Shape;144;p1">
              <a:extLst>
                <a:ext uri="{FF2B5EF4-FFF2-40B4-BE49-F238E27FC236}">
                  <a16:creationId xmlns:a16="http://schemas.microsoft.com/office/drawing/2014/main" id="{4CF03ED5-D155-CB1A-345C-B33963B1BC5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168;p1">
            <a:extLst>
              <a:ext uri="{FF2B5EF4-FFF2-40B4-BE49-F238E27FC236}">
                <a16:creationId xmlns:a16="http://schemas.microsoft.com/office/drawing/2014/main" id="{9C8F503B-23CF-A528-6E07-E8BF3E691DDD}"/>
              </a:ext>
            </a:extLst>
          </p:cNvPr>
          <p:cNvSpPr txBox="1"/>
          <p:nvPr/>
        </p:nvSpPr>
        <p:spPr>
          <a:xfrm>
            <a:off x="2941518" y="8295620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中研院人文社會科學研究中心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Google Shape;169;p1">
            <a:extLst>
              <a:ext uri="{FF2B5EF4-FFF2-40B4-BE49-F238E27FC236}">
                <a16:creationId xmlns:a16="http://schemas.microsoft.com/office/drawing/2014/main" id="{94AEEDF7-55C6-1B46-07B7-FD266DF23E77}"/>
              </a:ext>
            </a:extLst>
          </p:cNvPr>
          <p:cNvSpPr txBox="1"/>
          <p:nvPr/>
        </p:nvSpPr>
        <p:spPr>
          <a:xfrm>
            <a:off x="2941518" y="8500743"/>
            <a:ext cx="2228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研究助理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endParaRPr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Google Shape;172;p1">
            <a:extLst>
              <a:ext uri="{FF2B5EF4-FFF2-40B4-BE49-F238E27FC236}">
                <a16:creationId xmlns:a16="http://schemas.microsoft.com/office/drawing/2014/main" id="{0F80D75F-4BAF-2772-8E14-0E294B976FD0}"/>
              </a:ext>
            </a:extLst>
          </p:cNvPr>
          <p:cNvSpPr txBox="1"/>
          <p:nvPr/>
        </p:nvSpPr>
        <p:spPr>
          <a:xfrm>
            <a:off x="2851996" y="8723314"/>
            <a:ext cx="4294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透過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Lato"/>
                <a:sym typeface="Arial"/>
              </a:rPr>
              <a:t>SQL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做資料清理，將複雜資料轉換成清晰結構，供教授做學術研究。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Lato"/>
              <a:sym typeface="Arial"/>
            </a:endParaRPr>
          </a:p>
        </p:txBody>
      </p:sp>
      <p:sp>
        <p:nvSpPr>
          <p:cNvPr id="21" name="Google Shape;167;p1">
            <a:extLst>
              <a:ext uri="{FF2B5EF4-FFF2-40B4-BE49-F238E27FC236}">
                <a16:creationId xmlns:a16="http://schemas.microsoft.com/office/drawing/2014/main" id="{66DC682D-40F7-4CE0-9756-D267DF0ECD00}"/>
              </a:ext>
            </a:extLst>
          </p:cNvPr>
          <p:cNvSpPr txBox="1"/>
          <p:nvPr/>
        </p:nvSpPr>
        <p:spPr>
          <a:xfrm>
            <a:off x="5922529" y="8295620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2018/03 - 2018/10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517</Words>
  <Application>Microsoft Office PowerPoint</Application>
  <PresentationFormat>自訂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Lato</vt:lpstr>
      <vt:lpstr>Calibri</vt:lpstr>
      <vt:lpstr>微軟正黑體</vt:lpstr>
      <vt:lpstr>Arial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Shangwei Yang</dc:creator>
  <cp:lastModifiedBy>Shangwei Yang</cp:lastModifiedBy>
  <cp:revision>24</cp:revision>
  <dcterms:created xsi:type="dcterms:W3CDTF">2006-08-16T00:00:00Z</dcterms:created>
  <dcterms:modified xsi:type="dcterms:W3CDTF">2026-08-25T16:14:44Z</dcterms:modified>
</cp:coreProperties>
</file>